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ไอติม" panose="020B0604020202020204" charset="-3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4929554" y="2937573"/>
            <a:ext cx="8026538" cy="4628264"/>
          </a:xfrm>
          <a:prstGeom prst="rect">
            <a:avLst/>
          </a:prstGeom>
        </p:spPr>
        <p:txBody>
          <a:bodyPr lIns="0" tIns="0" rIns="0" bIns="0" rtlCol="0" anchor="t">
            <a:spAutoFit/>
          </a:bodyPr>
          <a:lstStyle/>
          <a:p>
            <a:pPr algn="ctr">
              <a:lnSpc>
                <a:spcPts val="7398"/>
              </a:lnSpc>
            </a:pPr>
            <a:r>
              <a:rPr lang="en-US" sz="5284">
                <a:solidFill>
                  <a:srgbClr val="000000"/>
                </a:solidFill>
                <a:latin typeface="ไอติม"/>
                <a:ea typeface="ไอติม"/>
                <a:cs typeface="ไอติม"/>
                <a:sym typeface="ไอติม"/>
              </a:rPr>
              <a:t>SPAM DETECTION SYSTEM</a:t>
            </a:r>
          </a:p>
          <a:p>
            <a:pPr algn="ctr">
              <a:lnSpc>
                <a:spcPts val="7398"/>
              </a:lnSpc>
            </a:pPr>
            <a:r>
              <a:rPr lang="en-US" sz="5284">
                <a:solidFill>
                  <a:srgbClr val="000000"/>
                </a:solidFill>
                <a:latin typeface="ไอติม"/>
                <a:ea typeface="ไอติม"/>
                <a:cs typeface="ไอติม"/>
                <a:sym typeface="ไอติม"/>
              </a:rPr>
              <a:t>PRESENTED BY </a:t>
            </a:r>
          </a:p>
          <a:p>
            <a:pPr algn="ctr">
              <a:lnSpc>
                <a:spcPts val="7398"/>
              </a:lnSpc>
            </a:pPr>
            <a:r>
              <a:rPr lang="en-US" sz="5284">
                <a:solidFill>
                  <a:srgbClr val="000000"/>
                </a:solidFill>
                <a:latin typeface="ไอติม"/>
                <a:ea typeface="ไอติม"/>
                <a:cs typeface="ไอติม"/>
                <a:sym typeface="ไอติม"/>
              </a:rPr>
              <a:t>SHIVANI</a:t>
            </a:r>
          </a:p>
          <a:p>
            <a:pPr algn="ctr">
              <a:lnSpc>
                <a:spcPts val="7398"/>
              </a:lnSpc>
            </a:pPr>
            <a:r>
              <a:rPr lang="en-US" sz="5284">
                <a:solidFill>
                  <a:srgbClr val="000000"/>
                </a:solidFill>
                <a:latin typeface="ไอติม"/>
                <a:ea typeface="ไอติม"/>
                <a:cs typeface="ไอติม"/>
                <a:sym typeface="ไอติม"/>
              </a:rPr>
              <a:t>12200256</a:t>
            </a:r>
          </a:p>
          <a:p>
            <a:pPr algn="ctr">
              <a:lnSpc>
                <a:spcPts val="7398"/>
              </a:lnSpc>
              <a:spcBef>
                <a:spcPct val="0"/>
              </a:spcBef>
            </a:pPr>
            <a:r>
              <a:rPr lang="en-US" sz="5284">
                <a:solidFill>
                  <a:srgbClr val="000000"/>
                </a:solidFill>
                <a:latin typeface="ไอติม"/>
                <a:ea typeface="ไอติม"/>
                <a:cs typeface="ไอติม"/>
                <a:sym typeface="ไอติม"/>
              </a:rPr>
              <a:t>B.TECH(CS&amp;AI)</a:t>
            </a:r>
          </a:p>
        </p:txBody>
      </p:sp>
      <p:grpSp>
        <p:nvGrpSpPr>
          <p:cNvPr id="12" name="Group 12"/>
          <p:cNvGrpSpPr/>
          <p:nvPr/>
        </p:nvGrpSpPr>
        <p:grpSpPr>
          <a:xfrm>
            <a:off x="5531511" y="2891588"/>
            <a:ext cx="6822624" cy="4815484"/>
            <a:chOff x="0" y="0"/>
            <a:chExt cx="1796905" cy="1268275"/>
          </a:xfrm>
        </p:grpSpPr>
        <p:sp>
          <p:nvSpPr>
            <p:cNvPr id="13" name="Freeform 13"/>
            <p:cNvSpPr/>
            <p:nvPr/>
          </p:nvSpPr>
          <p:spPr>
            <a:xfrm>
              <a:off x="0" y="0"/>
              <a:ext cx="1796905" cy="1268275"/>
            </a:xfrm>
            <a:custGeom>
              <a:avLst/>
              <a:gdLst/>
              <a:ahLst/>
              <a:cxnLst/>
              <a:rect l="l" t="t" r="r" b="b"/>
              <a:pathLst>
                <a:path w="1796905" h="1268275">
                  <a:moveTo>
                    <a:pt x="0" y="0"/>
                  </a:moveTo>
                  <a:lnTo>
                    <a:pt x="1796905" y="0"/>
                  </a:lnTo>
                  <a:lnTo>
                    <a:pt x="1796905" y="1268275"/>
                  </a:lnTo>
                  <a:lnTo>
                    <a:pt x="0" y="1268275"/>
                  </a:lnTo>
                  <a:close/>
                </a:path>
              </a:pathLst>
            </a:custGeom>
            <a:solidFill>
              <a:srgbClr val="000000">
                <a:alpha val="0"/>
              </a:srgbClr>
            </a:solidFill>
          </p:spPr>
        </p:sp>
        <p:sp>
          <p:nvSpPr>
            <p:cNvPr id="14" name="TextBox 14"/>
            <p:cNvSpPr txBox="1"/>
            <p:nvPr/>
          </p:nvSpPr>
          <p:spPr>
            <a:xfrm>
              <a:off x="0" y="-38100"/>
              <a:ext cx="1796905" cy="1306375"/>
            </a:xfrm>
            <a:prstGeom prst="rect">
              <a:avLst/>
            </a:prstGeom>
          </p:spPr>
          <p:txBody>
            <a:bodyPr lIns="50800" tIns="50800" rIns="50800" bIns="50800" rtlCol="0" anchor="ctr"/>
            <a:lstStyle/>
            <a:p>
              <a:pPr algn="ctr">
                <a:lnSpc>
                  <a:spcPts val="3359"/>
                </a:lnSpc>
                <a:spcBef>
                  <a:spcPct val="0"/>
                </a:spcBef>
              </a:pPr>
              <a:endParaRPr/>
            </a:p>
          </p:txBody>
        </p:sp>
      </p:grpSp>
      <p:grpSp>
        <p:nvGrpSpPr>
          <p:cNvPr id="15" name="Group 15"/>
          <p:cNvGrpSpPr/>
          <p:nvPr/>
        </p:nvGrpSpPr>
        <p:grpSpPr>
          <a:xfrm>
            <a:off x="4652278" y="2827539"/>
            <a:ext cx="8779526" cy="4879533"/>
            <a:chOff x="0" y="0"/>
            <a:chExt cx="2312303" cy="1285145"/>
          </a:xfrm>
        </p:grpSpPr>
        <p:sp>
          <p:nvSpPr>
            <p:cNvPr id="16" name="Freeform 16"/>
            <p:cNvSpPr/>
            <p:nvPr/>
          </p:nvSpPr>
          <p:spPr>
            <a:xfrm>
              <a:off x="0" y="0"/>
              <a:ext cx="2312303" cy="1285145"/>
            </a:xfrm>
            <a:custGeom>
              <a:avLst/>
              <a:gdLst/>
              <a:ahLst/>
              <a:cxnLst/>
              <a:rect l="l" t="t" r="r" b="b"/>
              <a:pathLst>
                <a:path w="2312303" h="1285145">
                  <a:moveTo>
                    <a:pt x="0" y="0"/>
                  </a:moveTo>
                  <a:lnTo>
                    <a:pt x="2312303" y="0"/>
                  </a:lnTo>
                  <a:lnTo>
                    <a:pt x="2312303" y="1285145"/>
                  </a:lnTo>
                  <a:lnTo>
                    <a:pt x="0" y="1285145"/>
                  </a:lnTo>
                  <a:close/>
                </a:path>
              </a:pathLst>
            </a:custGeom>
            <a:solidFill>
              <a:srgbClr val="000000">
                <a:alpha val="0"/>
              </a:srgbClr>
            </a:solidFill>
            <a:ln w="38100" cap="sq">
              <a:solidFill>
                <a:srgbClr val="000000"/>
              </a:solidFill>
              <a:prstDash val="solid"/>
              <a:miter/>
            </a:ln>
          </p:spPr>
        </p:sp>
        <p:sp>
          <p:nvSpPr>
            <p:cNvPr id="17" name="TextBox 17"/>
            <p:cNvSpPr txBox="1"/>
            <p:nvPr/>
          </p:nvSpPr>
          <p:spPr>
            <a:xfrm>
              <a:off x="0" y="-66675"/>
              <a:ext cx="2312303" cy="1351820"/>
            </a:xfrm>
            <a:prstGeom prst="rect">
              <a:avLst/>
            </a:prstGeom>
          </p:spPr>
          <p:txBody>
            <a:bodyPr lIns="50800" tIns="50800" rIns="50800" bIns="50800" rtlCol="0" anchor="ctr"/>
            <a:lstStyle/>
            <a:p>
              <a:pPr algn="ctr">
                <a:lnSpc>
                  <a:spcPts val="461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3490133" y="1195881"/>
            <a:ext cx="9925730" cy="675185"/>
          </a:xfrm>
          <a:prstGeom prst="rect">
            <a:avLst/>
          </a:prstGeom>
        </p:spPr>
        <p:txBody>
          <a:bodyPr lIns="0" tIns="0" rIns="0" bIns="0" rtlCol="0" anchor="t">
            <a:spAutoFit/>
          </a:bodyPr>
          <a:lstStyle/>
          <a:p>
            <a:pPr algn="ctr">
              <a:lnSpc>
                <a:spcPts val="5024"/>
              </a:lnSpc>
            </a:pPr>
            <a:r>
              <a:rPr lang="en-US" sz="5180">
                <a:solidFill>
                  <a:srgbClr val="000000"/>
                </a:solidFill>
                <a:latin typeface="ไอติม"/>
                <a:ea typeface="ไอติม"/>
                <a:cs typeface="ไอติม"/>
                <a:sym typeface="ไอติม"/>
              </a:rPr>
              <a:t>TABLE OF CONTENTS:</a:t>
            </a:r>
          </a:p>
        </p:txBody>
      </p:sp>
      <p:sp>
        <p:nvSpPr>
          <p:cNvPr id="12" name="TextBox 12"/>
          <p:cNvSpPr txBox="1"/>
          <p:nvPr/>
        </p:nvSpPr>
        <p:spPr>
          <a:xfrm>
            <a:off x="3670213" y="2092474"/>
            <a:ext cx="10751242" cy="5766758"/>
          </a:xfrm>
          <a:prstGeom prst="rect">
            <a:avLst/>
          </a:prstGeom>
        </p:spPr>
        <p:txBody>
          <a:bodyPr lIns="0" tIns="0" rIns="0" bIns="0" rtlCol="0" anchor="t">
            <a:spAutoFit/>
          </a:bodyPr>
          <a:lstStyle/>
          <a:p>
            <a:pPr algn="just">
              <a:lnSpc>
                <a:spcPts val="4198"/>
              </a:lnSpc>
            </a:pPr>
            <a:endParaRP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INTRODUCTION</a:t>
            </a: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PROJECT OVERVIEW</a:t>
            </a: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OBJECTIVE</a:t>
            </a: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WORKFLOW</a:t>
            </a: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NEED FOR SPAM DETECTION</a:t>
            </a: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HARDWARE AND SOFTWARE</a:t>
            </a: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FRONTENED AND BACKENED</a:t>
            </a: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USES</a:t>
            </a: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CONCLUSION</a:t>
            </a:r>
          </a:p>
          <a:p>
            <a:pPr marL="788217" lvl="1" indent="-394108" algn="just">
              <a:lnSpc>
                <a:spcPts val="4198"/>
              </a:lnSpc>
              <a:buAutoNum type="arabicPeriod"/>
            </a:pPr>
            <a:r>
              <a:rPr lang="en-US" sz="3650">
                <a:solidFill>
                  <a:srgbClr val="000000"/>
                </a:solidFill>
                <a:latin typeface="ไอติม"/>
                <a:ea typeface="ไอติม"/>
                <a:cs typeface="ไอติม"/>
                <a:sym typeface="ไอติม"/>
              </a:rPr>
              <a:t>FUTURE SCOPE</a:t>
            </a:r>
          </a:p>
        </p:txBody>
      </p:sp>
      <p:grpSp>
        <p:nvGrpSpPr>
          <p:cNvPr id="13" name="Group 13"/>
          <p:cNvGrpSpPr/>
          <p:nvPr/>
        </p:nvGrpSpPr>
        <p:grpSpPr>
          <a:xfrm>
            <a:off x="3670213" y="2295616"/>
            <a:ext cx="9745650" cy="5729003"/>
            <a:chOff x="0" y="0"/>
            <a:chExt cx="2566755" cy="1508873"/>
          </a:xfrm>
        </p:grpSpPr>
        <p:sp>
          <p:nvSpPr>
            <p:cNvPr id="14" name="Freeform 14"/>
            <p:cNvSpPr/>
            <p:nvPr/>
          </p:nvSpPr>
          <p:spPr>
            <a:xfrm>
              <a:off x="0" y="0"/>
              <a:ext cx="2566756" cy="1508873"/>
            </a:xfrm>
            <a:custGeom>
              <a:avLst/>
              <a:gdLst/>
              <a:ahLst/>
              <a:cxnLst/>
              <a:rect l="l" t="t" r="r" b="b"/>
              <a:pathLst>
                <a:path w="2566756" h="1508873">
                  <a:moveTo>
                    <a:pt x="0" y="0"/>
                  </a:moveTo>
                  <a:lnTo>
                    <a:pt x="2566756" y="0"/>
                  </a:lnTo>
                  <a:lnTo>
                    <a:pt x="2566756" y="1508873"/>
                  </a:lnTo>
                  <a:lnTo>
                    <a:pt x="0" y="1508873"/>
                  </a:lnTo>
                  <a:close/>
                </a:path>
              </a:pathLst>
            </a:custGeom>
            <a:solidFill>
              <a:srgbClr val="000000">
                <a:alpha val="0"/>
              </a:srgbClr>
            </a:solidFill>
            <a:ln w="38100" cap="sq">
              <a:solidFill>
                <a:srgbClr val="000000"/>
              </a:solidFill>
              <a:prstDash val="solid"/>
              <a:miter/>
            </a:ln>
          </p:spPr>
        </p:sp>
        <p:sp>
          <p:nvSpPr>
            <p:cNvPr id="15" name="TextBox 15"/>
            <p:cNvSpPr txBox="1"/>
            <p:nvPr/>
          </p:nvSpPr>
          <p:spPr>
            <a:xfrm>
              <a:off x="0" y="-38100"/>
              <a:ext cx="2566755" cy="1546973"/>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3816854" y="2475144"/>
            <a:ext cx="9925730" cy="675185"/>
          </a:xfrm>
          <a:prstGeom prst="rect">
            <a:avLst/>
          </a:prstGeom>
        </p:spPr>
        <p:txBody>
          <a:bodyPr lIns="0" tIns="0" rIns="0" bIns="0" rtlCol="0" anchor="t">
            <a:spAutoFit/>
          </a:bodyPr>
          <a:lstStyle/>
          <a:p>
            <a:pPr algn="ctr">
              <a:lnSpc>
                <a:spcPts val="5024"/>
              </a:lnSpc>
            </a:pPr>
            <a:r>
              <a:rPr lang="en-US" sz="5180">
                <a:solidFill>
                  <a:srgbClr val="000000"/>
                </a:solidFill>
                <a:latin typeface="ไอติม"/>
                <a:ea typeface="ไอติม"/>
                <a:cs typeface="ไอติม"/>
                <a:sym typeface="ไอติม"/>
              </a:rPr>
              <a:t>INTRODUCTION</a:t>
            </a:r>
          </a:p>
        </p:txBody>
      </p:sp>
      <p:sp>
        <p:nvSpPr>
          <p:cNvPr id="12" name="TextBox 12"/>
          <p:cNvSpPr txBox="1"/>
          <p:nvPr/>
        </p:nvSpPr>
        <p:spPr>
          <a:xfrm>
            <a:off x="3779688" y="3664679"/>
            <a:ext cx="11223953" cy="2099633"/>
          </a:xfrm>
          <a:prstGeom prst="rect">
            <a:avLst/>
          </a:prstGeom>
        </p:spPr>
        <p:txBody>
          <a:bodyPr lIns="0" tIns="0" rIns="0" bIns="0" rtlCol="0" anchor="t">
            <a:spAutoFit/>
          </a:bodyPr>
          <a:lstStyle/>
          <a:p>
            <a:pPr algn="ctr">
              <a:lnSpc>
                <a:spcPts val="4198"/>
              </a:lnSpc>
            </a:pPr>
            <a:endParaRPr/>
          </a:p>
          <a:p>
            <a:pPr algn="just">
              <a:lnSpc>
                <a:spcPts val="4198"/>
              </a:lnSpc>
            </a:pPr>
            <a:r>
              <a:rPr lang="en-US" sz="3650">
                <a:solidFill>
                  <a:srgbClr val="000000"/>
                </a:solidFill>
                <a:latin typeface="ไอติม"/>
                <a:ea typeface="ไอติม"/>
                <a:cs typeface="ไอติม"/>
                <a:sym typeface="ไอติม"/>
              </a:rPr>
              <a:t>Spam detection identifies and filters unwanted or harmful messages to protect users and maintain clean, secure communication.</a:t>
            </a:r>
          </a:p>
        </p:txBody>
      </p:sp>
      <p:grpSp>
        <p:nvGrpSpPr>
          <p:cNvPr id="13" name="Group 13"/>
          <p:cNvGrpSpPr/>
          <p:nvPr/>
        </p:nvGrpSpPr>
        <p:grpSpPr>
          <a:xfrm>
            <a:off x="3661836" y="3645629"/>
            <a:ext cx="11547414" cy="2705938"/>
            <a:chOff x="0" y="0"/>
            <a:chExt cx="3041294" cy="712675"/>
          </a:xfrm>
        </p:grpSpPr>
        <p:sp>
          <p:nvSpPr>
            <p:cNvPr id="14" name="Freeform 14"/>
            <p:cNvSpPr/>
            <p:nvPr/>
          </p:nvSpPr>
          <p:spPr>
            <a:xfrm>
              <a:off x="0" y="0"/>
              <a:ext cx="3041294" cy="712675"/>
            </a:xfrm>
            <a:custGeom>
              <a:avLst/>
              <a:gdLst/>
              <a:ahLst/>
              <a:cxnLst/>
              <a:rect l="l" t="t" r="r" b="b"/>
              <a:pathLst>
                <a:path w="3041294" h="712675">
                  <a:moveTo>
                    <a:pt x="0" y="0"/>
                  </a:moveTo>
                  <a:lnTo>
                    <a:pt x="3041294" y="0"/>
                  </a:lnTo>
                  <a:lnTo>
                    <a:pt x="3041294" y="712675"/>
                  </a:lnTo>
                  <a:lnTo>
                    <a:pt x="0" y="712675"/>
                  </a:lnTo>
                  <a:close/>
                </a:path>
              </a:pathLst>
            </a:custGeom>
            <a:solidFill>
              <a:srgbClr val="000000">
                <a:alpha val="0"/>
              </a:srgbClr>
            </a:solidFill>
            <a:ln w="38100" cap="sq">
              <a:solidFill>
                <a:srgbClr val="000000"/>
              </a:solidFill>
              <a:prstDash val="solid"/>
              <a:miter/>
            </a:ln>
          </p:spPr>
        </p:sp>
        <p:sp>
          <p:nvSpPr>
            <p:cNvPr id="15" name="TextBox 15"/>
            <p:cNvSpPr txBox="1"/>
            <p:nvPr/>
          </p:nvSpPr>
          <p:spPr>
            <a:xfrm>
              <a:off x="0" y="-38100"/>
              <a:ext cx="3041294" cy="750775"/>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4066687" y="1975841"/>
            <a:ext cx="9925730" cy="675185"/>
          </a:xfrm>
          <a:prstGeom prst="rect">
            <a:avLst/>
          </a:prstGeom>
        </p:spPr>
        <p:txBody>
          <a:bodyPr lIns="0" tIns="0" rIns="0" bIns="0" rtlCol="0" anchor="t">
            <a:spAutoFit/>
          </a:bodyPr>
          <a:lstStyle/>
          <a:p>
            <a:pPr algn="ctr">
              <a:lnSpc>
                <a:spcPts val="5024"/>
              </a:lnSpc>
            </a:pPr>
            <a:r>
              <a:rPr lang="en-US" sz="5180">
                <a:solidFill>
                  <a:srgbClr val="000000"/>
                </a:solidFill>
                <a:latin typeface="ไอติม"/>
                <a:ea typeface="ไอติม"/>
                <a:cs typeface="ไอติม"/>
                <a:sym typeface="ไอติม"/>
              </a:rPr>
              <a:t>PROJECT OVERVIEW</a:t>
            </a:r>
          </a:p>
        </p:txBody>
      </p:sp>
      <p:sp>
        <p:nvSpPr>
          <p:cNvPr id="12" name="TextBox 12"/>
          <p:cNvSpPr txBox="1"/>
          <p:nvPr/>
        </p:nvSpPr>
        <p:spPr>
          <a:xfrm>
            <a:off x="4066687" y="3345388"/>
            <a:ext cx="11223953" cy="3147383"/>
          </a:xfrm>
          <a:prstGeom prst="rect">
            <a:avLst/>
          </a:prstGeom>
        </p:spPr>
        <p:txBody>
          <a:bodyPr lIns="0" tIns="0" rIns="0" bIns="0" rtlCol="0" anchor="t">
            <a:spAutoFit/>
          </a:bodyPr>
          <a:lstStyle/>
          <a:p>
            <a:pPr marL="788217" lvl="1" indent="-394108" algn="l">
              <a:lnSpc>
                <a:spcPts val="4198"/>
              </a:lnSpc>
              <a:buFont typeface="Arial"/>
              <a:buChar char="•"/>
            </a:pPr>
            <a:r>
              <a:rPr lang="en-US" sz="3650">
                <a:solidFill>
                  <a:srgbClr val="000000"/>
                </a:solidFill>
                <a:latin typeface="ไอติม"/>
                <a:ea typeface="ไอติม"/>
                <a:cs typeface="ไอติม"/>
                <a:sym typeface="ไอติม"/>
              </a:rPr>
              <a:t>Classifies SMS as Spam or Ham using ML</a:t>
            </a:r>
          </a:p>
          <a:p>
            <a:pPr marL="788217" lvl="1" indent="-394108" algn="l">
              <a:lnSpc>
                <a:spcPts val="4198"/>
              </a:lnSpc>
              <a:buFont typeface="Arial"/>
              <a:buChar char="•"/>
            </a:pPr>
            <a:r>
              <a:rPr lang="en-US" sz="3650">
                <a:solidFill>
                  <a:srgbClr val="000000"/>
                </a:solidFill>
                <a:latin typeface="ไอติม"/>
                <a:ea typeface="ไอติม"/>
                <a:cs typeface="ไอติม"/>
                <a:sym typeface="ไอติม"/>
              </a:rPr>
              <a:t>Uses text preprocessing </a:t>
            </a:r>
          </a:p>
          <a:p>
            <a:pPr marL="788217" lvl="1" indent="-394108" algn="l">
              <a:lnSpc>
                <a:spcPts val="4198"/>
              </a:lnSpc>
              <a:buFont typeface="Arial"/>
              <a:buChar char="•"/>
            </a:pPr>
            <a:r>
              <a:rPr lang="en-US" sz="3650">
                <a:solidFill>
                  <a:srgbClr val="000000"/>
                </a:solidFill>
                <a:latin typeface="ไอติม"/>
                <a:ea typeface="ไอติม"/>
                <a:cs typeface="ไอติม"/>
                <a:sym typeface="ไอติม"/>
              </a:rPr>
              <a:t>Uses Machine Learning algorithms trained on a balanced dataset of SMS messages.</a:t>
            </a:r>
          </a:p>
          <a:p>
            <a:pPr marL="788217" lvl="1" indent="-394108" algn="l">
              <a:lnSpc>
                <a:spcPts val="4198"/>
              </a:lnSpc>
              <a:buFont typeface="Arial"/>
              <a:buChar char="•"/>
            </a:pPr>
            <a:r>
              <a:rPr lang="en-US" sz="3650">
                <a:solidFill>
                  <a:srgbClr val="000000"/>
                </a:solidFill>
                <a:latin typeface="ไอติม"/>
                <a:ea typeface="ไอติม"/>
                <a:cs typeface="ไอติม"/>
                <a:sym typeface="ไอติม"/>
              </a:rPr>
              <a:t>Real-time prediction through Streamlit</a:t>
            </a:r>
          </a:p>
          <a:p>
            <a:pPr algn="l">
              <a:lnSpc>
                <a:spcPts val="4198"/>
              </a:lnSpc>
            </a:pPr>
            <a:endParaRPr lang="en-US" sz="3650">
              <a:solidFill>
                <a:srgbClr val="000000"/>
              </a:solidFill>
              <a:latin typeface="ไอติม"/>
              <a:ea typeface="ไอติม"/>
              <a:cs typeface="ไอติม"/>
              <a:sym typeface="ไอติม"/>
            </a:endParaRPr>
          </a:p>
        </p:txBody>
      </p:sp>
      <p:grpSp>
        <p:nvGrpSpPr>
          <p:cNvPr id="13" name="Group 13"/>
          <p:cNvGrpSpPr/>
          <p:nvPr/>
        </p:nvGrpSpPr>
        <p:grpSpPr>
          <a:xfrm>
            <a:off x="4321708" y="3053410"/>
            <a:ext cx="10019014" cy="3248986"/>
            <a:chOff x="0" y="0"/>
            <a:chExt cx="2638753" cy="855700"/>
          </a:xfrm>
        </p:grpSpPr>
        <p:sp>
          <p:nvSpPr>
            <p:cNvPr id="14" name="Freeform 14"/>
            <p:cNvSpPr/>
            <p:nvPr/>
          </p:nvSpPr>
          <p:spPr>
            <a:xfrm>
              <a:off x="0" y="0"/>
              <a:ext cx="2638753" cy="855700"/>
            </a:xfrm>
            <a:custGeom>
              <a:avLst/>
              <a:gdLst/>
              <a:ahLst/>
              <a:cxnLst/>
              <a:rect l="l" t="t" r="r" b="b"/>
              <a:pathLst>
                <a:path w="2638753" h="855700">
                  <a:moveTo>
                    <a:pt x="0" y="0"/>
                  </a:moveTo>
                  <a:lnTo>
                    <a:pt x="2638753" y="0"/>
                  </a:lnTo>
                  <a:lnTo>
                    <a:pt x="2638753" y="855700"/>
                  </a:lnTo>
                  <a:lnTo>
                    <a:pt x="0" y="855700"/>
                  </a:lnTo>
                  <a:close/>
                </a:path>
              </a:pathLst>
            </a:custGeom>
            <a:solidFill>
              <a:srgbClr val="000000">
                <a:alpha val="0"/>
              </a:srgbClr>
            </a:solidFill>
            <a:ln w="38100" cap="sq">
              <a:solidFill>
                <a:srgbClr val="000000"/>
              </a:solidFill>
              <a:prstDash val="solid"/>
              <a:miter/>
            </a:ln>
          </p:spPr>
        </p:sp>
        <p:sp>
          <p:nvSpPr>
            <p:cNvPr id="15" name="TextBox 15"/>
            <p:cNvSpPr txBox="1"/>
            <p:nvPr/>
          </p:nvSpPr>
          <p:spPr>
            <a:xfrm>
              <a:off x="0" y="-38100"/>
              <a:ext cx="2638753" cy="893800"/>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4146124" y="3414288"/>
            <a:ext cx="10669480" cy="3147383"/>
          </a:xfrm>
          <a:prstGeom prst="rect">
            <a:avLst/>
          </a:prstGeom>
        </p:spPr>
        <p:txBody>
          <a:bodyPr lIns="0" tIns="0" rIns="0" bIns="0" rtlCol="0" anchor="t">
            <a:spAutoFit/>
          </a:bodyPr>
          <a:lstStyle/>
          <a:p>
            <a:pPr algn="just">
              <a:lnSpc>
                <a:spcPts val="4198"/>
              </a:lnSpc>
            </a:pPr>
            <a:r>
              <a:rPr lang="en-US" sz="3650">
                <a:solidFill>
                  <a:srgbClr val="000000"/>
                </a:solidFill>
                <a:latin typeface="ไอติม"/>
                <a:ea typeface="ไอติม"/>
                <a:cs typeface="ไอติม"/>
                <a:sym typeface="ไอติม"/>
              </a:rPr>
              <a:t>The objective of spam detection is to identify and filter unwanted or harmful messages to ensure safe, efficient, and reliable communication. By using machine learning and text analysis, the system aims to reduce spam, minimize security risks, and deliver only genuine messages to users.</a:t>
            </a:r>
          </a:p>
        </p:txBody>
      </p:sp>
      <p:grpSp>
        <p:nvGrpSpPr>
          <p:cNvPr id="12" name="Group 12"/>
          <p:cNvGrpSpPr/>
          <p:nvPr/>
        </p:nvGrpSpPr>
        <p:grpSpPr>
          <a:xfrm>
            <a:off x="3983066" y="3094135"/>
            <a:ext cx="10995596" cy="3791149"/>
            <a:chOff x="0" y="0"/>
            <a:chExt cx="2895960" cy="998492"/>
          </a:xfrm>
        </p:grpSpPr>
        <p:sp>
          <p:nvSpPr>
            <p:cNvPr id="13" name="Freeform 13"/>
            <p:cNvSpPr/>
            <p:nvPr/>
          </p:nvSpPr>
          <p:spPr>
            <a:xfrm>
              <a:off x="0" y="0"/>
              <a:ext cx="2895959" cy="998492"/>
            </a:xfrm>
            <a:custGeom>
              <a:avLst/>
              <a:gdLst/>
              <a:ahLst/>
              <a:cxnLst/>
              <a:rect l="l" t="t" r="r" b="b"/>
              <a:pathLst>
                <a:path w="2895959" h="998492">
                  <a:moveTo>
                    <a:pt x="0" y="0"/>
                  </a:moveTo>
                  <a:lnTo>
                    <a:pt x="2895959" y="0"/>
                  </a:lnTo>
                  <a:lnTo>
                    <a:pt x="2895959" y="998492"/>
                  </a:lnTo>
                  <a:lnTo>
                    <a:pt x="0" y="998492"/>
                  </a:lnTo>
                  <a:close/>
                </a:path>
              </a:pathLst>
            </a:custGeom>
            <a:solidFill>
              <a:srgbClr val="000000">
                <a:alpha val="0"/>
              </a:srgbClr>
            </a:solidFill>
            <a:ln w="38100" cap="sq">
              <a:solidFill>
                <a:srgbClr val="000000"/>
              </a:solidFill>
              <a:prstDash val="solid"/>
              <a:miter/>
            </a:ln>
          </p:spPr>
        </p:sp>
        <p:sp>
          <p:nvSpPr>
            <p:cNvPr id="14" name="TextBox 14"/>
            <p:cNvSpPr txBox="1"/>
            <p:nvPr/>
          </p:nvSpPr>
          <p:spPr>
            <a:xfrm>
              <a:off x="0" y="-38100"/>
              <a:ext cx="2895960" cy="1036592"/>
            </a:xfrm>
            <a:prstGeom prst="rect">
              <a:avLst/>
            </a:prstGeom>
          </p:spPr>
          <p:txBody>
            <a:bodyPr lIns="50800" tIns="50800" rIns="50800" bIns="50800" rtlCol="0" anchor="ctr"/>
            <a:lstStyle/>
            <a:p>
              <a:pPr algn="ctr">
                <a:lnSpc>
                  <a:spcPts val="3359"/>
                </a:lnSpc>
              </a:pPr>
              <a:endParaRPr/>
            </a:p>
          </p:txBody>
        </p:sp>
      </p:grpSp>
      <p:sp>
        <p:nvSpPr>
          <p:cNvPr id="15" name="TextBox 15"/>
          <p:cNvSpPr txBox="1"/>
          <p:nvPr/>
        </p:nvSpPr>
        <p:spPr>
          <a:xfrm>
            <a:off x="3327028" y="1975841"/>
            <a:ext cx="10666680" cy="675185"/>
          </a:xfrm>
          <a:prstGeom prst="rect">
            <a:avLst/>
          </a:prstGeom>
        </p:spPr>
        <p:txBody>
          <a:bodyPr lIns="0" tIns="0" rIns="0" bIns="0" rtlCol="0" anchor="t">
            <a:spAutoFit/>
          </a:bodyPr>
          <a:lstStyle/>
          <a:p>
            <a:pPr algn="ctr">
              <a:lnSpc>
                <a:spcPts val="5024"/>
              </a:lnSpc>
            </a:pPr>
            <a:r>
              <a:rPr lang="en-US" sz="5180">
                <a:solidFill>
                  <a:srgbClr val="000000"/>
                </a:solidFill>
                <a:latin typeface="ไอติม"/>
                <a:ea typeface="ไอติม"/>
                <a:cs typeface="ไอติม"/>
                <a:sym typeface="ไอติม"/>
              </a:rPr>
              <a:t>OBJECTIVE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158365" y="-13462683"/>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1" name="Group 11"/>
          <p:cNvGrpSpPr/>
          <p:nvPr/>
        </p:nvGrpSpPr>
        <p:grpSpPr>
          <a:xfrm>
            <a:off x="5478814" y="2793146"/>
            <a:ext cx="8179419" cy="4773363"/>
            <a:chOff x="0" y="0"/>
            <a:chExt cx="2154250" cy="1257182"/>
          </a:xfrm>
        </p:grpSpPr>
        <p:sp>
          <p:nvSpPr>
            <p:cNvPr id="12" name="Freeform 12"/>
            <p:cNvSpPr/>
            <p:nvPr/>
          </p:nvSpPr>
          <p:spPr>
            <a:xfrm>
              <a:off x="0" y="0"/>
              <a:ext cx="2154250" cy="1257182"/>
            </a:xfrm>
            <a:custGeom>
              <a:avLst/>
              <a:gdLst/>
              <a:ahLst/>
              <a:cxnLst/>
              <a:rect l="l" t="t" r="r" b="b"/>
              <a:pathLst>
                <a:path w="2154250" h="1257182">
                  <a:moveTo>
                    <a:pt x="0" y="0"/>
                  </a:moveTo>
                  <a:lnTo>
                    <a:pt x="2154250" y="0"/>
                  </a:lnTo>
                  <a:lnTo>
                    <a:pt x="2154250" y="1257182"/>
                  </a:lnTo>
                  <a:lnTo>
                    <a:pt x="0" y="1257182"/>
                  </a:lnTo>
                  <a:close/>
                </a:path>
              </a:pathLst>
            </a:custGeom>
            <a:solidFill>
              <a:srgbClr val="000000">
                <a:alpha val="0"/>
              </a:srgbClr>
            </a:solidFill>
            <a:ln w="38100" cap="sq">
              <a:solidFill>
                <a:srgbClr val="000000"/>
              </a:solidFill>
              <a:prstDash val="solid"/>
              <a:miter/>
            </a:ln>
          </p:spPr>
        </p:sp>
        <p:sp>
          <p:nvSpPr>
            <p:cNvPr id="13" name="TextBox 13"/>
            <p:cNvSpPr txBox="1"/>
            <p:nvPr/>
          </p:nvSpPr>
          <p:spPr>
            <a:xfrm>
              <a:off x="0" y="-38100"/>
              <a:ext cx="2154250" cy="1295282"/>
            </a:xfrm>
            <a:prstGeom prst="rect">
              <a:avLst/>
            </a:prstGeom>
          </p:spPr>
          <p:txBody>
            <a:bodyPr lIns="50800" tIns="50800" rIns="50800" bIns="50800" rtlCol="0" anchor="ctr"/>
            <a:lstStyle/>
            <a:p>
              <a:pPr algn="ctr">
                <a:lnSpc>
                  <a:spcPts val="3359"/>
                </a:lnSpc>
              </a:pPr>
              <a:endParaRPr/>
            </a:p>
          </p:txBody>
        </p:sp>
      </p:grpSp>
      <p:sp>
        <p:nvSpPr>
          <p:cNvPr id="14" name="TextBox 14"/>
          <p:cNvSpPr txBox="1"/>
          <p:nvPr/>
        </p:nvSpPr>
        <p:spPr>
          <a:xfrm>
            <a:off x="5321243" y="2950694"/>
            <a:ext cx="7983164" cy="4631056"/>
          </a:xfrm>
          <a:prstGeom prst="rect">
            <a:avLst/>
          </a:prstGeom>
        </p:spPr>
        <p:txBody>
          <a:bodyPr lIns="0" tIns="0" rIns="0" bIns="0" rtlCol="0" anchor="t">
            <a:spAutoFit/>
          </a:bodyPr>
          <a:lstStyle/>
          <a:p>
            <a:pPr marL="712465" lvl="1" indent="-356233" algn="l">
              <a:lnSpc>
                <a:spcPts val="4619"/>
              </a:lnSpc>
              <a:buFont typeface="Arial"/>
              <a:buChar char="•"/>
            </a:pPr>
            <a:r>
              <a:rPr lang="en-US" sz="3299">
                <a:solidFill>
                  <a:srgbClr val="000000"/>
                </a:solidFill>
                <a:latin typeface="ไอติม"/>
                <a:ea typeface="ไอติม"/>
                <a:cs typeface="ไอติม"/>
                <a:sym typeface="ไอติม"/>
              </a:rPr>
              <a:t>COLLECT AND PREPARE DATASET </a:t>
            </a:r>
          </a:p>
          <a:p>
            <a:pPr marL="712465" lvl="1" indent="-356233" algn="l">
              <a:lnSpc>
                <a:spcPts val="4619"/>
              </a:lnSpc>
              <a:buFont typeface="Arial"/>
              <a:buChar char="•"/>
            </a:pPr>
            <a:r>
              <a:rPr lang="en-US" sz="3299">
                <a:solidFill>
                  <a:srgbClr val="000000"/>
                </a:solidFill>
                <a:latin typeface="ไอติม"/>
                <a:ea typeface="ไอติม"/>
                <a:cs typeface="ไอติม"/>
                <a:sym typeface="ไอติม"/>
              </a:rPr>
              <a:t>Preprocess text</a:t>
            </a:r>
          </a:p>
          <a:p>
            <a:pPr marL="712465" lvl="1" indent="-356233" algn="just">
              <a:lnSpc>
                <a:spcPts val="4619"/>
              </a:lnSpc>
              <a:buFont typeface="Arial"/>
              <a:buChar char="•"/>
            </a:pPr>
            <a:r>
              <a:rPr lang="en-US" sz="3299">
                <a:solidFill>
                  <a:srgbClr val="000000"/>
                </a:solidFill>
                <a:latin typeface="ไอติม"/>
                <a:ea typeface="ไอติม"/>
                <a:cs typeface="ไอติม"/>
                <a:sym typeface="ไอติม"/>
              </a:rPr>
              <a:t>Train and evaluate machine learning model</a:t>
            </a:r>
          </a:p>
          <a:p>
            <a:pPr marL="712465" lvl="1" indent="-356233" algn="l">
              <a:lnSpc>
                <a:spcPts val="4619"/>
              </a:lnSpc>
              <a:buFont typeface="Arial"/>
              <a:buChar char="•"/>
            </a:pPr>
            <a:r>
              <a:rPr lang="en-US" sz="3299">
                <a:solidFill>
                  <a:srgbClr val="000000"/>
                </a:solidFill>
                <a:latin typeface="ไอติม"/>
                <a:ea typeface="ไอติม"/>
                <a:cs typeface="ไอติม"/>
                <a:sym typeface="ไอติม"/>
              </a:rPr>
              <a:t>Predict spam or ham for new messages and deploy the model for users.</a:t>
            </a:r>
          </a:p>
          <a:p>
            <a:pPr algn="l">
              <a:lnSpc>
                <a:spcPts val="4619"/>
              </a:lnSpc>
              <a:spcBef>
                <a:spcPct val="0"/>
              </a:spcBef>
            </a:pPr>
            <a:endParaRPr lang="en-US" sz="3299">
              <a:solidFill>
                <a:srgbClr val="000000"/>
              </a:solidFill>
              <a:latin typeface="ไอติม"/>
              <a:ea typeface="ไอติม"/>
              <a:cs typeface="ไอติม"/>
              <a:sym typeface="ไอติม"/>
            </a:endParaRPr>
          </a:p>
        </p:txBody>
      </p:sp>
      <p:sp>
        <p:nvSpPr>
          <p:cNvPr id="15" name="TextBox 15"/>
          <p:cNvSpPr txBox="1"/>
          <p:nvPr/>
        </p:nvSpPr>
        <p:spPr>
          <a:xfrm>
            <a:off x="7338629" y="1376209"/>
            <a:ext cx="4396171" cy="894464"/>
          </a:xfrm>
          <a:prstGeom prst="rect">
            <a:avLst/>
          </a:prstGeom>
        </p:spPr>
        <p:txBody>
          <a:bodyPr wrap="square" lIns="0" tIns="0" rIns="0" bIns="0" rtlCol="0" anchor="t">
            <a:spAutoFit/>
          </a:bodyPr>
          <a:lstStyle/>
          <a:p>
            <a:pPr algn="ctr">
              <a:lnSpc>
                <a:spcPts val="7398"/>
              </a:lnSpc>
              <a:spcBef>
                <a:spcPct val="0"/>
              </a:spcBef>
            </a:pPr>
            <a:r>
              <a:rPr lang="en-US" sz="5284" dirty="0">
                <a:solidFill>
                  <a:srgbClr val="000000"/>
                </a:solidFill>
                <a:latin typeface="ไอติม"/>
                <a:ea typeface="ไอติม"/>
                <a:cs typeface="ไอติม"/>
                <a:sym typeface="ไอติม"/>
              </a:rPr>
              <a:t>WORKFLOW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1" name="Group 11"/>
          <p:cNvGrpSpPr/>
          <p:nvPr/>
        </p:nvGrpSpPr>
        <p:grpSpPr>
          <a:xfrm>
            <a:off x="2045571" y="1028700"/>
            <a:ext cx="13868409" cy="2196886"/>
            <a:chOff x="0" y="0"/>
            <a:chExt cx="3652585" cy="578604"/>
          </a:xfrm>
        </p:grpSpPr>
        <p:sp>
          <p:nvSpPr>
            <p:cNvPr id="12" name="Freeform 12"/>
            <p:cNvSpPr/>
            <p:nvPr/>
          </p:nvSpPr>
          <p:spPr>
            <a:xfrm>
              <a:off x="0" y="0"/>
              <a:ext cx="3652585" cy="578604"/>
            </a:xfrm>
            <a:custGeom>
              <a:avLst/>
              <a:gdLst/>
              <a:ahLst/>
              <a:cxnLst/>
              <a:rect l="l" t="t" r="r" b="b"/>
              <a:pathLst>
                <a:path w="3652585" h="578604">
                  <a:moveTo>
                    <a:pt x="0" y="0"/>
                  </a:moveTo>
                  <a:lnTo>
                    <a:pt x="3652585" y="0"/>
                  </a:lnTo>
                  <a:lnTo>
                    <a:pt x="3652585" y="578604"/>
                  </a:lnTo>
                  <a:lnTo>
                    <a:pt x="0" y="578604"/>
                  </a:lnTo>
                  <a:close/>
                </a:path>
              </a:pathLst>
            </a:custGeom>
            <a:solidFill>
              <a:srgbClr val="000000">
                <a:alpha val="0"/>
              </a:srgbClr>
            </a:solidFill>
            <a:ln cap="sq">
              <a:noFill/>
              <a:prstDash val="solid"/>
              <a:miter/>
            </a:ln>
          </p:spPr>
        </p:sp>
        <p:sp>
          <p:nvSpPr>
            <p:cNvPr id="13" name="TextBox 13"/>
            <p:cNvSpPr txBox="1"/>
            <p:nvPr/>
          </p:nvSpPr>
          <p:spPr>
            <a:xfrm>
              <a:off x="0" y="-104775"/>
              <a:ext cx="3652585" cy="683379"/>
            </a:xfrm>
            <a:prstGeom prst="rect">
              <a:avLst/>
            </a:prstGeom>
          </p:spPr>
          <p:txBody>
            <a:bodyPr lIns="50800" tIns="50800" rIns="50800" bIns="50800" rtlCol="0" anchor="ctr"/>
            <a:lstStyle/>
            <a:p>
              <a:pPr algn="ctr">
                <a:lnSpc>
                  <a:spcPts val="7252"/>
                </a:lnSpc>
              </a:pPr>
              <a:r>
                <a:rPr lang="en-US" sz="5180">
                  <a:solidFill>
                    <a:srgbClr val="000000"/>
                  </a:solidFill>
                  <a:latin typeface="ไอติม"/>
                  <a:ea typeface="ไอติม"/>
                  <a:cs typeface="ไอติม"/>
                  <a:sym typeface="ไอติม"/>
                </a:rPr>
                <a:t>NEED  FOR  SPAM DETECTION</a:t>
              </a:r>
            </a:p>
          </p:txBody>
        </p:sp>
      </p:grpSp>
      <p:grpSp>
        <p:nvGrpSpPr>
          <p:cNvPr id="14" name="Group 14"/>
          <p:cNvGrpSpPr/>
          <p:nvPr/>
        </p:nvGrpSpPr>
        <p:grpSpPr>
          <a:xfrm>
            <a:off x="2923463" y="3225586"/>
            <a:ext cx="12495296" cy="3153917"/>
            <a:chOff x="0" y="0"/>
            <a:chExt cx="3290942" cy="830661"/>
          </a:xfrm>
        </p:grpSpPr>
        <p:sp>
          <p:nvSpPr>
            <p:cNvPr id="15" name="Freeform 15"/>
            <p:cNvSpPr/>
            <p:nvPr/>
          </p:nvSpPr>
          <p:spPr>
            <a:xfrm>
              <a:off x="0" y="0"/>
              <a:ext cx="3290942" cy="830661"/>
            </a:xfrm>
            <a:custGeom>
              <a:avLst/>
              <a:gdLst/>
              <a:ahLst/>
              <a:cxnLst/>
              <a:rect l="l" t="t" r="r" b="b"/>
              <a:pathLst>
                <a:path w="3290942" h="830661">
                  <a:moveTo>
                    <a:pt x="0" y="0"/>
                  </a:moveTo>
                  <a:lnTo>
                    <a:pt x="3290942" y="0"/>
                  </a:lnTo>
                  <a:lnTo>
                    <a:pt x="3290942" y="830661"/>
                  </a:lnTo>
                  <a:lnTo>
                    <a:pt x="0" y="830661"/>
                  </a:lnTo>
                  <a:close/>
                </a:path>
              </a:pathLst>
            </a:custGeom>
            <a:solidFill>
              <a:srgbClr val="000000">
                <a:alpha val="0"/>
              </a:srgbClr>
            </a:solidFill>
            <a:ln w="38100" cap="sq">
              <a:solidFill>
                <a:srgbClr val="000000"/>
              </a:solidFill>
              <a:prstDash val="solid"/>
              <a:miter/>
            </a:ln>
          </p:spPr>
        </p:sp>
        <p:sp>
          <p:nvSpPr>
            <p:cNvPr id="16" name="TextBox 16"/>
            <p:cNvSpPr txBox="1"/>
            <p:nvPr/>
          </p:nvSpPr>
          <p:spPr>
            <a:xfrm>
              <a:off x="0" y="-66675"/>
              <a:ext cx="3290942" cy="897336"/>
            </a:xfrm>
            <a:prstGeom prst="rect">
              <a:avLst/>
            </a:prstGeom>
          </p:spPr>
          <p:txBody>
            <a:bodyPr lIns="50800" tIns="50800" rIns="50800" bIns="50800" rtlCol="0" anchor="ctr"/>
            <a:lstStyle/>
            <a:p>
              <a:pPr marL="712465" lvl="1" indent="-356233" algn="l">
                <a:lnSpc>
                  <a:spcPts val="4619"/>
                </a:lnSpc>
                <a:buFont typeface="Arial"/>
                <a:buChar char="•"/>
              </a:pPr>
              <a:r>
                <a:rPr lang="en-US" sz="3299">
                  <a:solidFill>
                    <a:srgbClr val="000000"/>
                  </a:solidFill>
                  <a:latin typeface="ไอติม"/>
                  <a:ea typeface="ไอติม"/>
                  <a:cs typeface="ไอติม"/>
                  <a:sym typeface="ไอติม"/>
                </a:rPr>
                <a:t>PROTECTS USERS FROM FRAUD, PHISHING, AND SCAMS</a:t>
              </a:r>
            </a:p>
            <a:p>
              <a:pPr marL="712465" lvl="1" indent="-356233" algn="l">
                <a:lnSpc>
                  <a:spcPts val="4619"/>
                </a:lnSpc>
                <a:buFont typeface="Arial"/>
                <a:buChar char="•"/>
              </a:pPr>
              <a:r>
                <a:rPr lang="en-US" sz="3299">
                  <a:solidFill>
                    <a:srgbClr val="000000"/>
                  </a:solidFill>
                  <a:latin typeface="ไอติม"/>
                  <a:ea typeface="ไอติม"/>
                  <a:cs typeface="ไอติม"/>
                  <a:sym typeface="ไอติม"/>
                </a:rPr>
                <a:t>Filters unwanted promotional messages</a:t>
              </a:r>
            </a:p>
            <a:p>
              <a:pPr marL="712465" lvl="1" indent="-356233" algn="l">
                <a:lnSpc>
                  <a:spcPts val="4619"/>
                </a:lnSpc>
                <a:buFont typeface="Arial"/>
                <a:buChar char="•"/>
              </a:pPr>
              <a:r>
                <a:rPr lang="en-US" sz="3299">
                  <a:solidFill>
                    <a:srgbClr val="000000"/>
                  </a:solidFill>
                  <a:latin typeface="ไอติม"/>
                  <a:ea typeface="ไอติม"/>
                  <a:cs typeface="ไอติม"/>
                  <a:sym typeface="ไอติม"/>
                </a:rPr>
                <a:t>Improves communication efficiency</a:t>
              </a:r>
            </a:p>
            <a:p>
              <a:pPr marL="712465" lvl="1" indent="-356233" algn="l">
                <a:lnSpc>
                  <a:spcPts val="4619"/>
                </a:lnSpc>
                <a:buFont typeface="Arial"/>
                <a:buChar char="•"/>
              </a:pPr>
              <a:r>
                <a:rPr lang="en-US" sz="3299">
                  <a:solidFill>
                    <a:srgbClr val="000000"/>
                  </a:solidFill>
                  <a:latin typeface="ไอติม"/>
                  <a:ea typeface="ไอติม"/>
                  <a:cs typeface="ไอติม"/>
                  <a:sym typeface="ไอติม"/>
                </a:rPr>
                <a:t>Saves user time</a:t>
              </a:r>
            </a:p>
            <a:p>
              <a:pPr algn="l">
                <a:lnSpc>
                  <a:spcPts val="4619"/>
                </a:lnSpc>
              </a:pPr>
              <a:endParaRPr lang="en-US" sz="3299">
                <a:solidFill>
                  <a:srgbClr val="000000"/>
                </a:solidFill>
                <a:latin typeface="ไอติม"/>
                <a:ea typeface="ไอติม"/>
                <a:cs typeface="ไอติม"/>
                <a:sym typeface="ไอติม"/>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1" name="Group 11"/>
          <p:cNvGrpSpPr/>
          <p:nvPr/>
        </p:nvGrpSpPr>
        <p:grpSpPr>
          <a:xfrm>
            <a:off x="2578367" y="4036979"/>
            <a:ext cx="6128751" cy="3551505"/>
            <a:chOff x="0" y="0"/>
            <a:chExt cx="1614157" cy="935376"/>
          </a:xfrm>
        </p:grpSpPr>
        <p:sp>
          <p:nvSpPr>
            <p:cNvPr id="12" name="Freeform 12"/>
            <p:cNvSpPr/>
            <p:nvPr/>
          </p:nvSpPr>
          <p:spPr>
            <a:xfrm>
              <a:off x="0" y="0"/>
              <a:ext cx="1614157" cy="935376"/>
            </a:xfrm>
            <a:custGeom>
              <a:avLst/>
              <a:gdLst/>
              <a:ahLst/>
              <a:cxnLst/>
              <a:rect l="l" t="t" r="r" b="b"/>
              <a:pathLst>
                <a:path w="1614157" h="935376">
                  <a:moveTo>
                    <a:pt x="0" y="0"/>
                  </a:moveTo>
                  <a:lnTo>
                    <a:pt x="1614157" y="0"/>
                  </a:lnTo>
                  <a:lnTo>
                    <a:pt x="1614157" y="935376"/>
                  </a:lnTo>
                  <a:lnTo>
                    <a:pt x="0" y="935376"/>
                  </a:lnTo>
                  <a:close/>
                </a:path>
              </a:pathLst>
            </a:custGeom>
            <a:solidFill>
              <a:srgbClr val="000000">
                <a:alpha val="0"/>
              </a:srgbClr>
            </a:solidFill>
            <a:ln w="38100" cap="sq">
              <a:solidFill>
                <a:srgbClr val="000000"/>
              </a:solidFill>
              <a:prstDash val="solid"/>
              <a:miter/>
            </a:ln>
          </p:spPr>
        </p:sp>
        <p:sp>
          <p:nvSpPr>
            <p:cNvPr id="13" name="TextBox 13"/>
            <p:cNvSpPr txBox="1"/>
            <p:nvPr/>
          </p:nvSpPr>
          <p:spPr>
            <a:xfrm>
              <a:off x="0" y="-28575"/>
              <a:ext cx="1614157" cy="963951"/>
            </a:xfrm>
            <a:prstGeom prst="rect">
              <a:avLst/>
            </a:prstGeom>
          </p:spPr>
          <p:txBody>
            <a:bodyPr lIns="50800" tIns="50800" rIns="50800" bIns="50800" rtlCol="0" anchor="ctr"/>
            <a:lstStyle/>
            <a:p>
              <a:pPr algn="l">
                <a:lnSpc>
                  <a:spcPts val="4289"/>
                </a:lnSpc>
              </a:pPr>
              <a:r>
                <a:rPr lang="en-US" sz="3299">
                  <a:solidFill>
                    <a:srgbClr val="000000"/>
                  </a:solidFill>
                  <a:latin typeface="ไอติม"/>
                  <a:ea typeface="ไอติม"/>
                  <a:cs typeface="ไอติม"/>
                  <a:sym typeface="ไอติม"/>
                </a:rPr>
                <a:t>SOFTWARE REQUIREMENTS</a:t>
              </a:r>
            </a:p>
            <a:p>
              <a:pPr algn="l">
                <a:lnSpc>
                  <a:spcPts val="4289"/>
                </a:lnSpc>
              </a:pPr>
              <a:endParaRPr lang="en-US" sz="3299">
                <a:solidFill>
                  <a:srgbClr val="000000"/>
                </a:solidFill>
                <a:latin typeface="ไอติม"/>
                <a:ea typeface="ไอติม"/>
                <a:cs typeface="ไอติม"/>
                <a:sym typeface="ไอติม"/>
              </a:endParaRPr>
            </a:p>
            <a:p>
              <a:pPr algn="l">
                <a:lnSpc>
                  <a:spcPts val="4289"/>
                </a:lnSpc>
              </a:pPr>
              <a:endParaRPr lang="en-US" sz="3299">
                <a:solidFill>
                  <a:srgbClr val="000000"/>
                </a:solidFill>
                <a:latin typeface="ไอติม"/>
                <a:ea typeface="ไอติม"/>
                <a:cs typeface="ไอติม"/>
                <a:sym typeface="ไอติม"/>
              </a:endParaRPr>
            </a:p>
            <a:p>
              <a:pPr algn="l">
                <a:lnSpc>
                  <a:spcPts val="4289"/>
                </a:lnSpc>
              </a:pPr>
              <a:endParaRPr lang="en-US" sz="3299">
                <a:solidFill>
                  <a:srgbClr val="000000"/>
                </a:solidFill>
                <a:latin typeface="ไอติม"/>
                <a:ea typeface="ไอติม"/>
                <a:cs typeface="ไอติม"/>
                <a:sym typeface="ไอติม"/>
              </a:endParaRPr>
            </a:p>
          </p:txBody>
        </p:sp>
      </p:grpSp>
      <p:grpSp>
        <p:nvGrpSpPr>
          <p:cNvPr id="14" name="Group 14"/>
          <p:cNvGrpSpPr/>
          <p:nvPr/>
        </p:nvGrpSpPr>
        <p:grpSpPr>
          <a:xfrm>
            <a:off x="9707027" y="4036979"/>
            <a:ext cx="6112091" cy="3578325"/>
            <a:chOff x="0" y="0"/>
            <a:chExt cx="1609769" cy="942440"/>
          </a:xfrm>
        </p:grpSpPr>
        <p:sp>
          <p:nvSpPr>
            <p:cNvPr id="15" name="Freeform 15"/>
            <p:cNvSpPr/>
            <p:nvPr/>
          </p:nvSpPr>
          <p:spPr>
            <a:xfrm>
              <a:off x="0" y="0"/>
              <a:ext cx="1609769" cy="942439"/>
            </a:xfrm>
            <a:custGeom>
              <a:avLst/>
              <a:gdLst/>
              <a:ahLst/>
              <a:cxnLst/>
              <a:rect l="l" t="t" r="r" b="b"/>
              <a:pathLst>
                <a:path w="1609769" h="942439">
                  <a:moveTo>
                    <a:pt x="0" y="0"/>
                  </a:moveTo>
                  <a:lnTo>
                    <a:pt x="1609769" y="0"/>
                  </a:lnTo>
                  <a:lnTo>
                    <a:pt x="1609769" y="942439"/>
                  </a:lnTo>
                  <a:lnTo>
                    <a:pt x="0" y="942439"/>
                  </a:lnTo>
                  <a:close/>
                </a:path>
              </a:pathLst>
            </a:custGeom>
            <a:solidFill>
              <a:srgbClr val="000000">
                <a:alpha val="0"/>
              </a:srgbClr>
            </a:solidFill>
            <a:ln w="38100" cap="sq">
              <a:solidFill>
                <a:srgbClr val="000000"/>
              </a:solidFill>
              <a:prstDash val="solid"/>
              <a:miter/>
            </a:ln>
          </p:spPr>
        </p:sp>
        <p:sp>
          <p:nvSpPr>
            <p:cNvPr id="16" name="TextBox 16"/>
            <p:cNvSpPr txBox="1"/>
            <p:nvPr/>
          </p:nvSpPr>
          <p:spPr>
            <a:xfrm>
              <a:off x="0" y="-66675"/>
              <a:ext cx="1609769" cy="1009115"/>
            </a:xfrm>
            <a:prstGeom prst="rect">
              <a:avLst/>
            </a:prstGeom>
          </p:spPr>
          <p:txBody>
            <a:bodyPr lIns="50800" tIns="50800" rIns="50800" bIns="50800" rtlCol="0" anchor="ctr"/>
            <a:lstStyle/>
            <a:p>
              <a:pPr algn="l">
                <a:lnSpc>
                  <a:spcPts val="4619"/>
                </a:lnSpc>
              </a:pPr>
              <a:r>
                <a:rPr lang="en-US" sz="3299">
                  <a:solidFill>
                    <a:srgbClr val="000000"/>
                  </a:solidFill>
                  <a:latin typeface="ไอติม"/>
                  <a:ea typeface="ไอติม"/>
                  <a:cs typeface="ไอติม"/>
                  <a:sym typeface="ไอติม"/>
                </a:rPr>
                <a:t>HARDWARE REQUIREMENTS</a:t>
              </a:r>
            </a:p>
            <a:p>
              <a:pPr algn="l">
                <a:lnSpc>
                  <a:spcPts val="4619"/>
                </a:lnSpc>
              </a:pPr>
              <a:endParaRPr lang="en-US" sz="3299">
                <a:solidFill>
                  <a:srgbClr val="000000"/>
                </a:solidFill>
                <a:latin typeface="ไอติม"/>
                <a:ea typeface="ไอติม"/>
                <a:cs typeface="ไอติม"/>
                <a:sym typeface="ไอติม"/>
              </a:endParaRPr>
            </a:p>
            <a:p>
              <a:pPr algn="l">
                <a:lnSpc>
                  <a:spcPts val="4619"/>
                </a:lnSpc>
              </a:pPr>
              <a:endParaRPr lang="en-US" sz="3299">
                <a:solidFill>
                  <a:srgbClr val="000000"/>
                </a:solidFill>
                <a:latin typeface="ไอติม"/>
                <a:ea typeface="ไอติม"/>
                <a:cs typeface="ไอติม"/>
                <a:sym typeface="ไอติม"/>
              </a:endParaRPr>
            </a:p>
            <a:p>
              <a:pPr algn="l">
                <a:lnSpc>
                  <a:spcPts val="4619"/>
                </a:lnSpc>
              </a:pPr>
              <a:endParaRPr lang="en-US" sz="3299">
                <a:solidFill>
                  <a:srgbClr val="000000"/>
                </a:solidFill>
                <a:latin typeface="ไอติม"/>
                <a:ea typeface="ไอติม"/>
                <a:cs typeface="ไอติม"/>
                <a:sym typeface="ไอติม"/>
              </a:endParaRPr>
            </a:p>
          </p:txBody>
        </p:sp>
      </p:grpSp>
      <p:grpSp>
        <p:nvGrpSpPr>
          <p:cNvPr id="17" name="Group 17"/>
          <p:cNvGrpSpPr/>
          <p:nvPr/>
        </p:nvGrpSpPr>
        <p:grpSpPr>
          <a:xfrm>
            <a:off x="2491834" y="5243682"/>
            <a:ext cx="4761245" cy="2361267"/>
            <a:chOff x="0" y="0"/>
            <a:chExt cx="1253990" cy="621897"/>
          </a:xfrm>
        </p:grpSpPr>
        <p:sp>
          <p:nvSpPr>
            <p:cNvPr id="18" name="Freeform 18"/>
            <p:cNvSpPr/>
            <p:nvPr/>
          </p:nvSpPr>
          <p:spPr>
            <a:xfrm>
              <a:off x="0" y="0"/>
              <a:ext cx="1253991" cy="621897"/>
            </a:xfrm>
            <a:custGeom>
              <a:avLst/>
              <a:gdLst/>
              <a:ahLst/>
              <a:cxnLst/>
              <a:rect l="l" t="t" r="r" b="b"/>
              <a:pathLst>
                <a:path w="1253991" h="621897">
                  <a:moveTo>
                    <a:pt x="0" y="0"/>
                  </a:moveTo>
                  <a:lnTo>
                    <a:pt x="1253991" y="0"/>
                  </a:lnTo>
                  <a:lnTo>
                    <a:pt x="1253991" y="621897"/>
                  </a:lnTo>
                  <a:lnTo>
                    <a:pt x="0" y="621897"/>
                  </a:lnTo>
                  <a:close/>
                </a:path>
              </a:pathLst>
            </a:custGeom>
            <a:solidFill>
              <a:srgbClr val="000000">
                <a:alpha val="0"/>
              </a:srgbClr>
            </a:solidFill>
          </p:spPr>
        </p:sp>
        <p:sp>
          <p:nvSpPr>
            <p:cNvPr id="19" name="TextBox 19"/>
            <p:cNvSpPr txBox="1"/>
            <p:nvPr/>
          </p:nvSpPr>
          <p:spPr>
            <a:xfrm>
              <a:off x="0" y="-57150"/>
              <a:ext cx="1253990" cy="679047"/>
            </a:xfrm>
            <a:prstGeom prst="rect">
              <a:avLst/>
            </a:prstGeom>
          </p:spPr>
          <p:txBody>
            <a:bodyPr lIns="50800" tIns="50800" rIns="50800" bIns="50800" rtlCol="0" anchor="ctr"/>
            <a:lstStyle/>
            <a:p>
              <a:pPr marL="561336" lvl="1" indent="-280668" algn="l">
                <a:lnSpc>
                  <a:spcPts val="3639"/>
                </a:lnSpc>
                <a:buFont typeface="Arial"/>
                <a:buChar char="•"/>
              </a:pPr>
              <a:r>
                <a:rPr lang="en-US" sz="2599">
                  <a:solidFill>
                    <a:srgbClr val="000000"/>
                  </a:solidFill>
                  <a:latin typeface="ไอติม"/>
                  <a:ea typeface="ไอติม"/>
                  <a:cs typeface="ไอติม"/>
                  <a:sym typeface="ไอติม"/>
                </a:rPr>
                <a:t>LANGUAGE :PYTHON</a:t>
              </a:r>
            </a:p>
            <a:p>
              <a:pPr algn="l">
                <a:lnSpc>
                  <a:spcPts val="3639"/>
                </a:lnSpc>
              </a:pPr>
              <a:endParaRPr lang="en-US" sz="2599">
                <a:solidFill>
                  <a:srgbClr val="000000"/>
                </a:solidFill>
                <a:latin typeface="ไอติม"/>
                <a:ea typeface="ไอติม"/>
                <a:cs typeface="ไอติม"/>
                <a:sym typeface="ไอติม"/>
              </a:endParaRPr>
            </a:p>
            <a:p>
              <a:pPr marL="561336" lvl="1" indent="-280668" algn="l">
                <a:lnSpc>
                  <a:spcPts val="3639"/>
                </a:lnSpc>
                <a:buFont typeface="Arial"/>
                <a:buChar char="•"/>
              </a:pPr>
              <a:r>
                <a:rPr lang="en-US" sz="2599">
                  <a:solidFill>
                    <a:srgbClr val="000000"/>
                  </a:solidFill>
                  <a:latin typeface="ไอติม"/>
                  <a:ea typeface="ไอติม"/>
                  <a:cs typeface="ไอติม"/>
                  <a:sym typeface="ไอติม"/>
                </a:rPr>
                <a:t>CODE EDITOR: VS CODE</a:t>
              </a:r>
            </a:p>
            <a:p>
              <a:pPr algn="l">
                <a:lnSpc>
                  <a:spcPts val="3639"/>
                </a:lnSpc>
              </a:pPr>
              <a:endParaRPr lang="en-US" sz="2599">
                <a:solidFill>
                  <a:srgbClr val="000000"/>
                </a:solidFill>
                <a:latin typeface="ไอติม"/>
                <a:ea typeface="ไอติม"/>
                <a:cs typeface="ไอติม"/>
                <a:sym typeface="ไอติม"/>
              </a:endParaRPr>
            </a:p>
          </p:txBody>
        </p:sp>
      </p:grpSp>
      <p:grpSp>
        <p:nvGrpSpPr>
          <p:cNvPr id="20" name="Group 20"/>
          <p:cNvGrpSpPr/>
          <p:nvPr/>
        </p:nvGrpSpPr>
        <p:grpSpPr>
          <a:xfrm>
            <a:off x="9544858" y="5205242"/>
            <a:ext cx="6274260" cy="2299524"/>
            <a:chOff x="0" y="0"/>
            <a:chExt cx="1652480" cy="605636"/>
          </a:xfrm>
        </p:grpSpPr>
        <p:sp>
          <p:nvSpPr>
            <p:cNvPr id="21" name="Freeform 21"/>
            <p:cNvSpPr/>
            <p:nvPr/>
          </p:nvSpPr>
          <p:spPr>
            <a:xfrm>
              <a:off x="0" y="0"/>
              <a:ext cx="1652480" cy="605636"/>
            </a:xfrm>
            <a:custGeom>
              <a:avLst/>
              <a:gdLst/>
              <a:ahLst/>
              <a:cxnLst/>
              <a:rect l="l" t="t" r="r" b="b"/>
              <a:pathLst>
                <a:path w="1652480" h="605636">
                  <a:moveTo>
                    <a:pt x="0" y="0"/>
                  </a:moveTo>
                  <a:lnTo>
                    <a:pt x="1652480" y="0"/>
                  </a:lnTo>
                  <a:lnTo>
                    <a:pt x="1652480" y="605636"/>
                  </a:lnTo>
                  <a:lnTo>
                    <a:pt x="0" y="605636"/>
                  </a:lnTo>
                  <a:close/>
                </a:path>
              </a:pathLst>
            </a:custGeom>
            <a:solidFill>
              <a:srgbClr val="000000">
                <a:alpha val="0"/>
              </a:srgbClr>
            </a:solidFill>
          </p:spPr>
        </p:sp>
        <p:sp>
          <p:nvSpPr>
            <p:cNvPr id="22" name="TextBox 22"/>
            <p:cNvSpPr txBox="1"/>
            <p:nvPr/>
          </p:nvSpPr>
          <p:spPr>
            <a:xfrm>
              <a:off x="0" y="-57150"/>
              <a:ext cx="1652480" cy="662786"/>
            </a:xfrm>
            <a:prstGeom prst="rect">
              <a:avLst/>
            </a:prstGeom>
          </p:spPr>
          <p:txBody>
            <a:bodyPr lIns="50800" tIns="50800" rIns="50800" bIns="50800" rtlCol="0" anchor="ctr"/>
            <a:lstStyle/>
            <a:p>
              <a:pPr marL="561336" lvl="1" indent="-280668" algn="l">
                <a:lnSpc>
                  <a:spcPts val="3639"/>
                </a:lnSpc>
                <a:buFont typeface="Arial"/>
                <a:buChar char="•"/>
              </a:pPr>
              <a:r>
                <a:rPr lang="en-US" sz="2599">
                  <a:solidFill>
                    <a:srgbClr val="000000"/>
                  </a:solidFill>
                  <a:latin typeface="ไอติม"/>
                  <a:ea typeface="ไอติม"/>
                  <a:cs typeface="ไอติม"/>
                  <a:sym typeface="ไอติม"/>
                </a:rPr>
                <a:t> PROCESSOR: INTEL i3 or i5 Core</a:t>
              </a:r>
            </a:p>
            <a:p>
              <a:pPr algn="l">
                <a:lnSpc>
                  <a:spcPts val="3639"/>
                </a:lnSpc>
              </a:pPr>
              <a:endParaRPr lang="en-US" sz="2599">
                <a:solidFill>
                  <a:srgbClr val="000000"/>
                </a:solidFill>
                <a:latin typeface="ไอติม"/>
                <a:ea typeface="ไอติม"/>
                <a:cs typeface="ไอติม"/>
                <a:sym typeface="ไอติม"/>
              </a:endParaRPr>
            </a:p>
            <a:p>
              <a:pPr marL="561336" lvl="1" indent="-280668" algn="l">
                <a:lnSpc>
                  <a:spcPts val="3639"/>
                </a:lnSpc>
                <a:buFont typeface="Arial"/>
                <a:buChar char="•"/>
              </a:pPr>
              <a:r>
                <a:rPr lang="en-US" sz="2599">
                  <a:solidFill>
                    <a:srgbClr val="000000"/>
                  </a:solidFill>
                  <a:latin typeface="ไอติม"/>
                  <a:ea typeface="ไอติม"/>
                  <a:cs typeface="ไอติม"/>
                  <a:sym typeface="ไอติม"/>
                </a:rPr>
                <a:t>RAM: 8GB</a:t>
              </a:r>
            </a:p>
            <a:p>
              <a:pPr algn="l">
                <a:lnSpc>
                  <a:spcPts val="3639"/>
                </a:lnSpc>
              </a:pPr>
              <a:endParaRPr lang="en-US" sz="2599">
                <a:solidFill>
                  <a:srgbClr val="000000"/>
                </a:solidFill>
                <a:latin typeface="ไอติม"/>
                <a:ea typeface="ไอติม"/>
                <a:cs typeface="ไอติม"/>
                <a:sym typeface="ไอติม"/>
              </a:endParaRPr>
            </a:p>
          </p:txBody>
        </p:sp>
      </p:grpSp>
      <p:grpSp>
        <p:nvGrpSpPr>
          <p:cNvPr id="23" name="Group 23"/>
          <p:cNvGrpSpPr/>
          <p:nvPr/>
        </p:nvGrpSpPr>
        <p:grpSpPr>
          <a:xfrm>
            <a:off x="699947" y="1276310"/>
            <a:ext cx="15718023" cy="2056310"/>
            <a:chOff x="0" y="0"/>
            <a:chExt cx="4139726" cy="541580"/>
          </a:xfrm>
        </p:grpSpPr>
        <p:sp>
          <p:nvSpPr>
            <p:cNvPr id="24" name="Freeform 24"/>
            <p:cNvSpPr/>
            <p:nvPr/>
          </p:nvSpPr>
          <p:spPr>
            <a:xfrm>
              <a:off x="0" y="0"/>
              <a:ext cx="4139726" cy="541580"/>
            </a:xfrm>
            <a:custGeom>
              <a:avLst/>
              <a:gdLst/>
              <a:ahLst/>
              <a:cxnLst/>
              <a:rect l="l" t="t" r="r" b="b"/>
              <a:pathLst>
                <a:path w="4139726" h="541580">
                  <a:moveTo>
                    <a:pt x="0" y="0"/>
                  </a:moveTo>
                  <a:lnTo>
                    <a:pt x="4139726" y="0"/>
                  </a:lnTo>
                  <a:lnTo>
                    <a:pt x="4139726" y="541580"/>
                  </a:lnTo>
                  <a:lnTo>
                    <a:pt x="0" y="541580"/>
                  </a:lnTo>
                  <a:close/>
                </a:path>
              </a:pathLst>
            </a:custGeom>
            <a:solidFill>
              <a:srgbClr val="000000">
                <a:alpha val="0"/>
              </a:srgbClr>
            </a:solidFill>
            <a:ln cap="sq">
              <a:noFill/>
              <a:prstDash val="solid"/>
              <a:miter/>
            </a:ln>
          </p:spPr>
        </p:sp>
        <p:sp>
          <p:nvSpPr>
            <p:cNvPr id="25" name="TextBox 25"/>
            <p:cNvSpPr txBox="1"/>
            <p:nvPr/>
          </p:nvSpPr>
          <p:spPr>
            <a:xfrm>
              <a:off x="0" y="-104775"/>
              <a:ext cx="4139726" cy="646355"/>
            </a:xfrm>
            <a:prstGeom prst="rect">
              <a:avLst/>
            </a:prstGeom>
          </p:spPr>
          <p:txBody>
            <a:bodyPr lIns="50800" tIns="50800" rIns="50800" bIns="50800" rtlCol="0" anchor="ctr"/>
            <a:lstStyle/>
            <a:p>
              <a:pPr algn="ctr">
                <a:lnSpc>
                  <a:spcPts val="7252"/>
                </a:lnSpc>
              </a:pPr>
              <a:r>
                <a:rPr lang="en-US" sz="5180">
                  <a:solidFill>
                    <a:srgbClr val="000000"/>
                  </a:solidFill>
                  <a:latin typeface="ไอติม"/>
                  <a:ea typeface="ไอติม"/>
                  <a:cs typeface="ไอติม"/>
                  <a:sym typeface="ไอติม"/>
                </a:rPr>
                <a:t> HARDWARE AND SOFTWARE REQUIREMENTS FOR PROJECT</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1" name="Group 11"/>
          <p:cNvGrpSpPr/>
          <p:nvPr/>
        </p:nvGrpSpPr>
        <p:grpSpPr>
          <a:xfrm>
            <a:off x="2491834" y="3367748"/>
            <a:ext cx="6128751" cy="3551505"/>
            <a:chOff x="0" y="0"/>
            <a:chExt cx="1614157" cy="935376"/>
          </a:xfrm>
        </p:grpSpPr>
        <p:sp>
          <p:nvSpPr>
            <p:cNvPr id="12" name="Freeform 12"/>
            <p:cNvSpPr/>
            <p:nvPr/>
          </p:nvSpPr>
          <p:spPr>
            <a:xfrm>
              <a:off x="0" y="0"/>
              <a:ext cx="1614157" cy="935376"/>
            </a:xfrm>
            <a:custGeom>
              <a:avLst/>
              <a:gdLst/>
              <a:ahLst/>
              <a:cxnLst/>
              <a:rect l="l" t="t" r="r" b="b"/>
              <a:pathLst>
                <a:path w="1614157" h="935376">
                  <a:moveTo>
                    <a:pt x="0" y="0"/>
                  </a:moveTo>
                  <a:lnTo>
                    <a:pt x="1614157" y="0"/>
                  </a:lnTo>
                  <a:lnTo>
                    <a:pt x="1614157" y="935376"/>
                  </a:lnTo>
                  <a:lnTo>
                    <a:pt x="0" y="935376"/>
                  </a:lnTo>
                  <a:close/>
                </a:path>
              </a:pathLst>
            </a:custGeom>
            <a:solidFill>
              <a:srgbClr val="000000">
                <a:alpha val="0"/>
              </a:srgbClr>
            </a:solidFill>
            <a:ln w="38100" cap="sq">
              <a:solidFill>
                <a:srgbClr val="000000"/>
              </a:solidFill>
              <a:prstDash val="solid"/>
              <a:miter/>
            </a:ln>
          </p:spPr>
        </p:sp>
        <p:sp>
          <p:nvSpPr>
            <p:cNvPr id="13" name="TextBox 13"/>
            <p:cNvSpPr txBox="1"/>
            <p:nvPr/>
          </p:nvSpPr>
          <p:spPr>
            <a:xfrm>
              <a:off x="0" y="-28575"/>
              <a:ext cx="1614157" cy="963951"/>
            </a:xfrm>
            <a:prstGeom prst="rect">
              <a:avLst/>
            </a:prstGeom>
          </p:spPr>
          <p:txBody>
            <a:bodyPr lIns="50800" tIns="50800" rIns="50800" bIns="50800" rtlCol="0" anchor="ctr"/>
            <a:lstStyle/>
            <a:p>
              <a:pPr algn="l">
                <a:lnSpc>
                  <a:spcPts val="4289"/>
                </a:lnSpc>
              </a:pPr>
              <a:r>
                <a:rPr lang="en-US" sz="3299">
                  <a:solidFill>
                    <a:srgbClr val="000000"/>
                  </a:solidFill>
                  <a:latin typeface="ไอติม"/>
                  <a:ea typeface="ไอติม"/>
                  <a:cs typeface="ไอติม"/>
                  <a:sym typeface="ไอติม"/>
                </a:rPr>
                <a:t>FRONTENED:</a:t>
              </a:r>
            </a:p>
            <a:p>
              <a:pPr algn="l">
                <a:lnSpc>
                  <a:spcPts val="4289"/>
                </a:lnSpc>
              </a:pPr>
              <a:endParaRPr lang="en-US" sz="3299">
                <a:solidFill>
                  <a:srgbClr val="000000"/>
                </a:solidFill>
                <a:latin typeface="ไอติม"/>
                <a:ea typeface="ไอติม"/>
                <a:cs typeface="ไอติม"/>
                <a:sym typeface="ไอติม"/>
              </a:endParaRPr>
            </a:p>
            <a:p>
              <a:pPr algn="l">
                <a:lnSpc>
                  <a:spcPts val="4289"/>
                </a:lnSpc>
              </a:pPr>
              <a:endParaRPr lang="en-US" sz="3299">
                <a:solidFill>
                  <a:srgbClr val="000000"/>
                </a:solidFill>
                <a:latin typeface="ไอติม"/>
                <a:ea typeface="ไอติม"/>
                <a:cs typeface="ไอติม"/>
                <a:sym typeface="ไอติม"/>
              </a:endParaRPr>
            </a:p>
            <a:p>
              <a:pPr algn="l">
                <a:lnSpc>
                  <a:spcPts val="4289"/>
                </a:lnSpc>
              </a:pPr>
              <a:endParaRPr lang="en-US" sz="3299">
                <a:solidFill>
                  <a:srgbClr val="000000"/>
                </a:solidFill>
                <a:latin typeface="ไอติม"/>
                <a:ea typeface="ไอติม"/>
                <a:cs typeface="ไอติม"/>
                <a:sym typeface="ไอติม"/>
              </a:endParaRPr>
            </a:p>
          </p:txBody>
        </p:sp>
      </p:grpSp>
      <p:grpSp>
        <p:nvGrpSpPr>
          <p:cNvPr id="14" name="Group 14"/>
          <p:cNvGrpSpPr/>
          <p:nvPr/>
        </p:nvGrpSpPr>
        <p:grpSpPr>
          <a:xfrm>
            <a:off x="10482026" y="3367748"/>
            <a:ext cx="6128751" cy="3551505"/>
            <a:chOff x="0" y="0"/>
            <a:chExt cx="1614157" cy="935376"/>
          </a:xfrm>
        </p:grpSpPr>
        <p:sp>
          <p:nvSpPr>
            <p:cNvPr id="15" name="Freeform 15"/>
            <p:cNvSpPr/>
            <p:nvPr/>
          </p:nvSpPr>
          <p:spPr>
            <a:xfrm>
              <a:off x="0" y="0"/>
              <a:ext cx="1614157" cy="935376"/>
            </a:xfrm>
            <a:custGeom>
              <a:avLst/>
              <a:gdLst/>
              <a:ahLst/>
              <a:cxnLst/>
              <a:rect l="l" t="t" r="r" b="b"/>
              <a:pathLst>
                <a:path w="1614157" h="935376">
                  <a:moveTo>
                    <a:pt x="0" y="0"/>
                  </a:moveTo>
                  <a:lnTo>
                    <a:pt x="1614157" y="0"/>
                  </a:lnTo>
                  <a:lnTo>
                    <a:pt x="1614157" y="935376"/>
                  </a:lnTo>
                  <a:lnTo>
                    <a:pt x="0" y="935376"/>
                  </a:lnTo>
                  <a:close/>
                </a:path>
              </a:pathLst>
            </a:custGeom>
            <a:solidFill>
              <a:srgbClr val="000000">
                <a:alpha val="0"/>
              </a:srgbClr>
            </a:solidFill>
            <a:ln w="38100" cap="sq">
              <a:solidFill>
                <a:srgbClr val="000000"/>
              </a:solidFill>
              <a:prstDash val="solid"/>
              <a:miter/>
            </a:ln>
          </p:spPr>
        </p:sp>
        <p:sp>
          <p:nvSpPr>
            <p:cNvPr id="16" name="TextBox 16"/>
            <p:cNvSpPr txBox="1"/>
            <p:nvPr/>
          </p:nvSpPr>
          <p:spPr>
            <a:xfrm>
              <a:off x="0" y="-28575"/>
              <a:ext cx="1614157" cy="963951"/>
            </a:xfrm>
            <a:prstGeom prst="rect">
              <a:avLst/>
            </a:prstGeom>
          </p:spPr>
          <p:txBody>
            <a:bodyPr lIns="50800" tIns="50800" rIns="50800" bIns="50800" rtlCol="0" anchor="ctr"/>
            <a:lstStyle/>
            <a:p>
              <a:pPr algn="l">
                <a:lnSpc>
                  <a:spcPts val="4289"/>
                </a:lnSpc>
              </a:pPr>
              <a:r>
                <a:rPr lang="en-US" sz="3299">
                  <a:solidFill>
                    <a:srgbClr val="000000"/>
                  </a:solidFill>
                  <a:latin typeface="ไอติม"/>
                  <a:ea typeface="ไอติม"/>
                  <a:cs typeface="ไอติม"/>
                  <a:sym typeface="ไอติม"/>
                </a:rPr>
                <a:t>BACKENED:</a:t>
              </a:r>
            </a:p>
            <a:p>
              <a:pPr algn="l">
                <a:lnSpc>
                  <a:spcPts val="4289"/>
                </a:lnSpc>
              </a:pPr>
              <a:endParaRPr lang="en-US" sz="3299">
                <a:solidFill>
                  <a:srgbClr val="000000"/>
                </a:solidFill>
                <a:latin typeface="ไอติม"/>
                <a:ea typeface="ไอติม"/>
                <a:cs typeface="ไอติม"/>
                <a:sym typeface="ไอติม"/>
              </a:endParaRPr>
            </a:p>
            <a:p>
              <a:pPr algn="l">
                <a:lnSpc>
                  <a:spcPts val="4289"/>
                </a:lnSpc>
              </a:pPr>
              <a:endParaRPr lang="en-US" sz="3299">
                <a:solidFill>
                  <a:srgbClr val="000000"/>
                </a:solidFill>
                <a:latin typeface="ไอติม"/>
                <a:ea typeface="ไอติม"/>
                <a:cs typeface="ไอติม"/>
                <a:sym typeface="ไอติม"/>
              </a:endParaRPr>
            </a:p>
            <a:p>
              <a:pPr algn="l">
                <a:lnSpc>
                  <a:spcPts val="4289"/>
                </a:lnSpc>
              </a:pPr>
              <a:endParaRPr lang="en-US" sz="3299">
                <a:solidFill>
                  <a:srgbClr val="000000"/>
                </a:solidFill>
                <a:latin typeface="ไอติม"/>
                <a:ea typeface="ไอติม"/>
                <a:cs typeface="ไอติม"/>
                <a:sym typeface="ไอติม"/>
              </a:endParaRPr>
            </a:p>
          </p:txBody>
        </p:sp>
      </p:grpSp>
      <p:grpSp>
        <p:nvGrpSpPr>
          <p:cNvPr id="17" name="Group 17"/>
          <p:cNvGrpSpPr/>
          <p:nvPr/>
        </p:nvGrpSpPr>
        <p:grpSpPr>
          <a:xfrm>
            <a:off x="2294078" y="4788262"/>
            <a:ext cx="3433970" cy="2895345"/>
            <a:chOff x="0" y="0"/>
            <a:chExt cx="904420" cy="762560"/>
          </a:xfrm>
        </p:grpSpPr>
        <p:sp>
          <p:nvSpPr>
            <p:cNvPr id="18" name="Freeform 18"/>
            <p:cNvSpPr/>
            <p:nvPr/>
          </p:nvSpPr>
          <p:spPr>
            <a:xfrm>
              <a:off x="0" y="0"/>
              <a:ext cx="904420" cy="762560"/>
            </a:xfrm>
            <a:custGeom>
              <a:avLst/>
              <a:gdLst/>
              <a:ahLst/>
              <a:cxnLst/>
              <a:rect l="l" t="t" r="r" b="b"/>
              <a:pathLst>
                <a:path w="904420" h="762560">
                  <a:moveTo>
                    <a:pt x="0" y="0"/>
                  </a:moveTo>
                  <a:lnTo>
                    <a:pt x="904420" y="0"/>
                  </a:lnTo>
                  <a:lnTo>
                    <a:pt x="904420" y="762560"/>
                  </a:lnTo>
                  <a:lnTo>
                    <a:pt x="0" y="762560"/>
                  </a:lnTo>
                  <a:close/>
                </a:path>
              </a:pathLst>
            </a:custGeom>
            <a:solidFill>
              <a:srgbClr val="000000">
                <a:alpha val="0"/>
              </a:srgbClr>
            </a:solidFill>
          </p:spPr>
        </p:sp>
        <p:sp>
          <p:nvSpPr>
            <p:cNvPr id="19" name="TextBox 19"/>
            <p:cNvSpPr txBox="1"/>
            <p:nvPr/>
          </p:nvSpPr>
          <p:spPr>
            <a:xfrm>
              <a:off x="0" y="-57150"/>
              <a:ext cx="904420" cy="819710"/>
            </a:xfrm>
            <a:prstGeom prst="rect">
              <a:avLst/>
            </a:prstGeom>
          </p:spPr>
          <p:txBody>
            <a:bodyPr lIns="50800" tIns="50800" rIns="50800" bIns="50800" rtlCol="0" anchor="ctr"/>
            <a:lstStyle/>
            <a:p>
              <a:pPr marL="561336" lvl="1" indent="-280668" algn="l">
                <a:lnSpc>
                  <a:spcPts val="3639"/>
                </a:lnSpc>
                <a:buFont typeface="Arial"/>
                <a:buChar char="•"/>
              </a:pPr>
              <a:r>
                <a:rPr lang="en-US" sz="2599">
                  <a:solidFill>
                    <a:srgbClr val="000000"/>
                  </a:solidFill>
                  <a:latin typeface="ไอติม"/>
                  <a:ea typeface="ไอติม"/>
                  <a:cs typeface="ไอติม"/>
                  <a:sym typeface="ไอติม"/>
                </a:rPr>
                <a:t>STREAMLIT</a:t>
              </a:r>
            </a:p>
            <a:p>
              <a:pPr marL="561336" lvl="1" indent="-280668" algn="l">
                <a:lnSpc>
                  <a:spcPts val="3639"/>
                </a:lnSpc>
                <a:buFont typeface="Arial"/>
                <a:buChar char="•"/>
              </a:pPr>
              <a:r>
                <a:rPr lang="en-US" sz="2599">
                  <a:solidFill>
                    <a:srgbClr val="000000"/>
                  </a:solidFill>
                  <a:latin typeface="ไอติม"/>
                  <a:ea typeface="ไอติม"/>
                  <a:cs typeface="ไอติม"/>
                  <a:sym typeface="ไอติม"/>
                </a:rPr>
                <a:t>CSS</a:t>
              </a:r>
            </a:p>
            <a:p>
              <a:pPr marL="561336" lvl="1" indent="-280668" algn="l">
                <a:lnSpc>
                  <a:spcPts val="3639"/>
                </a:lnSpc>
                <a:buFont typeface="Arial"/>
                <a:buChar char="•"/>
              </a:pPr>
              <a:r>
                <a:rPr lang="en-US" sz="2599">
                  <a:solidFill>
                    <a:srgbClr val="000000"/>
                  </a:solidFill>
                  <a:latin typeface="ไอติม"/>
                  <a:ea typeface="ไอติม"/>
                  <a:cs typeface="ไอติม"/>
                  <a:sym typeface="ไอติม"/>
                </a:rPr>
                <a:t>HTML</a:t>
              </a:r>
            </a:p>
            <a:p>
              <a:pPr algn="l">
                <a:lnSpc>
                  <a:spcPts val="3639"/>
                </a:lnSpc>
              </a:pPr>
              <a:endParaRPr lang="en-US" sz="2599">
                <a:solidFill>
                  <a:srgbClr val="000000"/>
                </a:solidFill>
                <a:latin typeface="ไอติม"/>
                <a:ea typeface="ไอติม"/>
                <a:cs typeface="ไอติม"/>
                <a:sym typeface="ไอติม"/>
              </a:endParaRPr>
            </a:p>
            <a:p>
              <a:pPr algn="l">
                <a:lnSpc>
                  <a:spcPts val="3639"/>
                </a:lnSpc>
              </a:pPr>
              <a:endParaRPr lang="en-US" sz="2599">
                <a:solidFill>
                  <a:srgbClr val="000000"/>
                </a:solidFill>
                <a:latin typeface="ไอติม"/>
                <a:ea typeface="ไอติม"/>
                <a:cs typeface="ไอติม"/>
                <a:sym typeface="ไอติม"/>
              </a:endParaRPr>
            </a:p>
            <a:p>
              <a:pPr algn="l">
                <a:lnSpc>
                  <a:spcPts val="3639"/>
                </a:lnSpc>
              </a:pPr>
              <a:endParaRPr lang="en-US" sz="2599">
                <a:solidFill>
                  <a:srgbClr val="000000"/>
                </a:solidFill>
                <a:latin typeface="ไอติม"/>
                <a:ea typeface="ไอติม"/>
                <a:cs typeface="ไอติม"/>
                <a:sym typeface="ไอติม"/>
              </a:endParaRPr>
            </a:p>
          </p:txBody>
        </p:sp>
      </p:grpSp>
      <p:grpSp>
        <p:nvGrpSpPr>
          <p:cNvPr id="20" name="Group 20"/>
          <p:cNvGrpSpPr/>
          <p:nvPr/>
        </p:nvGrpSpPr>
        <p:grpSpPr>
          <a:xfrm>
            <a:off x="10308613" y="4364994"/>
            <a:ext cx="3884171" cy="2361267"/>
            <a:chOff x="0" y="0"/>
            <a:chExt cx="1022992" cy="621897"/>
          </a:xfrm>
        </p:grpSpPr>
        <p:sp>
          <p:nvSpPr>
            <p:cNvPr id="21" name="Freeform 21"/>
            <p:cNvSpPr/>
            <p:nvPr/>
          </p:nvSpPr>
          <p:spPr>
            <a:xfrm>
              <a:off x="0" y="0"/>
              <a:ext cx="1022992" cy="621897"/>
            </a:xfrm>
            <a:custGeom>
              <a:avLst/>
              <a:gdLst/>
              <a:ahLst/>
              <a:cxnLst/>
              <a:rect l="l" t="t" r="r" b="b"/>
              <a:pathLst>
                <a:path w="1022992" h="621897">
                  <a:moveTo>
                    <a:pt x="0" y="0"/>
                  </a:moveTo>
                  <a:lnTo>
                    <a:pt x="1022992" y="0"/>
                  </a:lnTo>
                  <a:lnTo>
                    <a:pt x="1022992" y="621897"/>
                  </a:lnTo>
                  <a:lnTo>
                    <a:pt x="0" y="621897"/>
                  </a:lnTo>
                  <a:close/>
                </a:path>
              </a:pathLst>
            </a:custGeom>
            <a:solidFill>
              <a:srgbClr val="000000">
                <a:alpha val="0"/>
              </a:srgbClr>
            </a:solidFill>
          </p:spPr>
        </p:sp>
        <p:sp>
          <p:nvSpPr>
            <p:cNvPr id="22" name="TextBox 22"/>
            <p:cNvSpPr txBox="1"/>
            <p:nvPr/>
          </p:nvSpPr>
          <p:spPr>
            <a:xfrm>
              <a:off x="0" y="-57150"/>
              <a:ext cx="1022992" cy="679047"/>
            </a:xfrm>
            <a:prstGeom prst="rect">
              <a:avLst/>
            </a:prstGeom>
          </p:spPr>
          <p:txBody>
            <a:bodyPr lIns="50800" tIns="50800" rIns="50800" bIns="50800" rtlCol="0" anchor="ctr"/>
            <a:lstStyle/>
            <a:p>
              <a:pPr marL="561336" lvl="1" indent="-280668" algn="l">
                <a:lnSpc>
                  <a:spcPts val="3639"/>
                </a:lnSpc>
                <a:buFont typeface="Arial"/>
                <a:buChar char="•"/>
              </a:pPr>
              <a:r>
                <a:rPr lang="en-US" sz="2599">
                  <a:solidFill>
                    <a:srgbClr val="000000"/>
                  </a:solidFill>
                  <a:latin typeface="ไอติม"/>
                  <a:ea typeface="ไอติม"/>
                  <a:cs typeface="ไอติม"/>
                  <a:sym typeface="ไอติม"/>
                </a:rPr>
                <a:t>PYTHON</a:t>
              </a:r>
            </a:p>
            <a:p>
              <a:pPr algn="l">
                <a:lnSpc>
                  <a:spcPts val="3639"/>
                </a:lnSpc>
              </a:pPr>
              <a:endParaRPr lang="en-US" sz="2599">
                <a:solidFill>
                  <a:srgbClr val="000000"/>
                </a:solidFill>
                <a:latin typeface="ไอติม"/>
                <a:ea typeface="ไอติม"/>
                <a:cs typeface="ไอติม"/>
                <a:sym typeface="ไอติม"/>
              </a:endParaRPr>
            </a:p>
            <a:p>
              <a:pPr marL="561336" lvl="1" indent="-280668" algn="l">
                <a:lnSpc>
                  <a:spcPts val="3639"/>
                </a:lnSpc>
                <a:buFont typeface="Arial"/>
                <a:buChar char="•"/>
              </a:pPr>
              <a:r>
                <a:rPr lang="en-US" sz="2599">
                  <a:solidFill>
                    <a:srgbClr val="000000"/>
                  </a:solidFill>
                  <a:latin typeface="ไอติม"/>
                  <a:ea typeface="ไอติม"/>
                  <a:cs typeface="ไอติม"/>
                  <a:sym typeface="ไอติม"/>
                </a:rPr>
                <a:t>MACHINE  LEARNING</a:t>
              </a:r>
            </a:p>
            <a:p>
              <a:pPr algn="l">
                <a:lnSpc>
                  <a:spcPts val="3639"/>
                </a:lnSpc>
              </a:pPr>
              <a:endParaRPr lang="en-US" sz="2599">
                <a:solidFill>
                  <a:srgbClr val="000000"/>
                </a:solidFill>
                <a:latin typeface="ไอติม"/>
                <a:ea typeface="ไอติม"/>
                <a:cs typeface="ไอติม"/>
                <a:sym typeface="ไอติม"/>
              </a:endParaRPr>
            </a:p>
          </p:txBody>
        </p:sp>
      </p:grpSp>
      <p:grpSp>
        <p:nvGrpSpPr>
          <p:cNvPr id="23" name="Group 23"/>
          <p:cNvGrpSpPr/>
          <p:nvPr/>
        </p:nvGrpSpPr>
        <p:grpSpPr>
          <a:xfrm>
            <a:off x="699947" y="1276310"/>
            <a:ext cx="15718023" cy="1952298"/>
            <a:chOff x="0" y="0"/>
            <a:chExt cx="4139726" cy="514185"/>
          </a:xfrm>
        </p:grpSpPr>
        <p:sp>
          <p:nvSpPr>
            <p:cNvPr id="24" name="Freeform 24"/>
            <p:cNvSpPr/>
            <p:nvPr/>
          </p:nvSpPr>
          <p:spPr>
            <a:xfrm>
              <a:off x="0" y="0"/>
              <a:ext cx="4139726" cy="514185"/>
            </a:xfrm>
            <a:custGeom>
              <a:avLst/>
              <a:gdLst/>
              <a:ahLst/>
              <a:cxnLst/>
              <a:rect l="l" t="t" r="r" b="b"/>
              <a:pathLst>
                <a:path w="4139726" h="514185">
                  <a:moveTo>
                    <a:pt x="0" y="0"/>
                  </a:moveTo>
                  <a:lnTo>
                    <a:pt x="4139726" y="0"/>
                  </a:lnTo>
                  <a:lnTo>
                    <a:pt x="4139726" y="514185"/>
                  </a:lnTo>
                  <a:lnTo>
                    <a:pt x="0" y="514185"/>
                  </a:lnTo>
                  <a:close/>
                </a:path>
              </a:pathLst>
            </a:custGeom>
            <a:solidFill>
              <a:srgbClr val="000000">
                <a:alpha val="0"/>
              </a:srgbClr>
            </a:solidFill>
            <a:ln cap="sq">
              <a:noFill/>
              <a:prstDash val="solid"/>
              <a:miter/>
            </a:ln>
          </p:spPr>
        </p:sp>
        <p:sp>
          <p:nvSpPr>
            <p:cNvPr id="25" name="TextBox 25"/>
            <p:cNvSpPr txBox="1"/>
            <p:nvPr/>
          </p:nvSpPr>
          <p:spPr>
            <a:xfrm>
              <a:off x="0" y="-104775"/>
              <a:ext cx="4139726" cy="618960"/>
            </a:xfrm>
            <a:prstGeom prst="rect">
              <a:avLst/>
            </a:prstGeom>
          </p:spPr>
          <p:txBody>
            <a:bodyPr lIns="50800" tIns="50800" rIns="50800" bIns="50800" rtlCol="0" anchor="ctr"/>
            <a:lstStyle/>
            <a:p>
              <a:pPr algn="ctr">
                <a:lnSpc>
                  <a:spcPts val="7252"/>
                </a:lnSpc>
              </a:pPr>
              <a:r>
                <a:rPr lang="en-US" sz="5180">
                  <a:solidFill>
                    <a:srgbClr val="000000"/>
                  </a:solidFill>
                  <a:latin typeface="ไอติม"/>
                  <a:ea typeface="ไอติม"/>
                  <a:cs typeface="ไอติม"/>
                  <a:sym typeface="ไอติม"/>
                </a:rPr>
                <a:t> FRONTENED AND BACKENED</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3041360" y="3607396"/>
            <a:ext cx="13032539" cy="4240999"/>
          </a:xfrm>
          <a:prstGeom prst="rect">
            <a:avLst/>
          </a:prstGeom>
        </p:spPr>
        <p:txBody>
          <a:bodyPr lIns="0" tIns="0" rIns="0" bIns="0" rtlCol="0" anchor="t">
            <a:spAutoFit/>
          </a:bodyPr>
          <a:lstStyle/>
          <a:p>
            <a:pPr marL="796796" lvl="1" indent="-398398" algn="l">
              <a:lnSpc>
                <a:spcPts val="4244"/>
              </a:lnSpc>
              <a:buFont typeface="Arial"/>
              <a:buChar char="•"/>
            </a:pPr>
            <a:r>
              <a:rPr lang="en-US" sz="3690">
                <a:solidFill>
                  <a:srgbClr val="000000"/>
                </a:solidFill>
                <a:latin typeface="ไอติม"/>
                <a:ea typeface="ไอติม"/>
                <a:cs typeface="ไอติม"/>
                <a:sym typeface="ไอติม"/>
              </a:rPr>
              <a:t>Automatically classifies SMS as Spam or Ham</a:t>
            </a:r>
          </a:p>
          <a:p>
            <a:pPr marL="796796" lvl="1" indent="-398398" algn="l">
              <a:lnSpc>
                <a:spcPts val="4244"/>
              </a:lnSpc>
              <a:buFont typeface="Arial"/>
              <a:buChar char="•"/>
            </a:pPr>
            <a:r>
              <a:rPr lang="en-US" sz="3690">
                <a:solidFill>
                  <a:srgbClr val="000000"/>
                </a:solidFill>
                <a:latin typeface="ไอติม"/>
                <a:ea typeface="ไอติม"/>
                <a:cs typeface="ไอติม"/>
                <a:sym typeface="ไอติม"/>
              </a:rPr>
              <a:t>Protects users from fake offers, lottery scams, and fraud SMS</a:t>
            </a:r>
          </a:p>
          <a:p>
            <a:pPr marL="796796" lvl="1" indent="-398398" algn="l">
              <a:lnSpc>
                <a:spcPts val="4244"/>
              </a:lnSpc>
              <a:buFont typeface="Arial"/>
              <a:buChar char="•"/>
            </a:pPr>
            <a:r>
              <a:rPr lang="en-US" sz="3690">
                <a:solidFill>
                  <a:srgbClr val="000000"/>
                </a:solidFill>
                <a:latin typeface="ไอติม"/>
                <a:ea typeface="ไอติม"/>
                <a:cs typeface="ไอติม"/>
                <a:sym typeface="ไอติม"/>
              </a:rPr>
              <a:t>Prevents users from clicking harmful links in spam messages</a:t>
            </a:r>
          </a:p>
          <a:p>
            <a:pPr marL="796796" lvl="1" indent="-398398" algn="l">
              <a:lnSpc>
                <a:spcPts val="4244"/>
              </a:lnSpc>
              <a:buFont typeface="Arial"/>
              <a:buChar char="•"/>
            </a:pPr>
            <a:r>
              <a:rPr lang="en-US" sz="3690">
                <a:solidFill>
                  <a:srgbClr val="000000"/>
                </a:solidFill>
                <a:latin typeface="ไอติม"/>
                <a:ea typeface="ไอติม"/>
                <a:cs typeface="ไอติม"/>
                <a:sym typeface="ไอติม"/>
              </a:rPr>
              <a:t>Educates users about spam patterns</a:t>
            </a:r>
          </a:p>
          <a:p>
            <a:pPr algn="l">
              <a:lnSpc>
                <a:spcPts val="4244"/>
              </a:lnSpc>
            </a:pPr>
            <a:endParaRPr lang="en-US" sz="3690">
              <a:solidFill>
                <a:srgbClr val="000000"/>
              </a:solidFill>
              <a:latin typeface="ไอติม"/>
              <a:ea typeface="ไอติม"/>
              <a:cs typeface="ไอติม"/>
              <a:sym typeface="ไอติม"/>
            </a:endParaRPr>
          </a:p>
          <a:p>
            <a:pPr algn="l">
              <a:lnSpc>
                <a:spcPts val="4244"/>
              </a:lnSpc>
            </a:pPr>
            <a:endParaRPr lang="en-US" sz="3690">
              <a:solidFill>
                <a:srgbClr val="000000"/>
              </a:solidFill>
              <a:latin typeface="ไอติม"/>
              <a:ea typeface="ไอติม"/>
              <a:cs typeface="ไอติม"/>
              <a:sym typeface="ไอติม"/>
            </a:endParaRPr>
          </a:p>
        </p:txBody>
      </p:sp>
      <p:grpSp>
        <p:nvGrpSpPr>
          <p:cNvPr id="12" name="Group 12"/>
          <p:cNvGrpSpPr/>
          <p:nvPr/>
        </p:nvGrpSpPr>
        <p:grpSpPr>
          <a:xfrm>
            <a:off x="195957" y="1463217"/>
            <a:ext cx="15718023" cy="1952298"/>
            <a:chOff x="0" y="0"/>
            <a:chExt cx="4139726" cy="514185"/>
          </a:xfrm>
        </p:grpSpPr>
        <p:sp>
          <p:nvSpPr>
            <p:cNvPr id="13" name="Freeform 13"/>
            <p:cNvSpPr/>
            <p:nvPr/>
          </p:nvSpPr>
          <p:spPr>
            <a:xfrm>
              <a:off x="0" y="0"/>
              <a:ext cx="4139726" cy="514185"/>
            </a:xfrm>
            <a:custGeom>
              <a:avLst/>
              <a:gdLst/>
              <a:ahLst/>
              <a:cxnLst/>
              <a:rect l="l" t="t" r="r" b="b"/>
              <a:pathLst>
                <a:path w="4139726" h="514185">
                  <a:moveTo>
                    <a:pt x="0" y="0"/>
                  </a:moveTo>
                  <a:lnTo>
                    <a:pt x="4139726" y="0"/>
                  </a:lnTo>
                  <a:lnTo>
                    <a:pt x="4139726" y="514185"/>
                  </a:lnTo>
                  <a:lnTo>
                    <a:pt x="0" y="514185"/>
                  </a:lnTo>
                  <a:close/>
                </a:path>
              </a:pathLst>
            </a:custGeom>
            <a:solidFill>
              <a:srgbClr val="000000">
                <a:alpha val="0"/>
              </a:srgbClr>
            </a:solidFill>
            <a:ln cap="sq">
              <a:noFill/>
              <a:prstDash val="solid"/>
              <a:miter/>
            </a:ln>
          </p:spPr>
        </p:sp>
        <p:sp>
          <p:nvSpPr>
            <p:cNvPr id="14" name="TextBox 14"/>
            <p:cNvSpPr txBox="1"/>
            <p:nvPr/>
          </p:nvSpPr>
          <p:spPr>
            <a:xfrm>
              <a:off x="0" y="-104775"/>
              <a:ext cx="4139726" cy="618960"/>
            </a:xfrm>
            <a:prstGeom prst="rect">
              <a:avLst/>
            </a:prstGeom>
          </p:spPr>
          <p:txBody>
            <a:bodyPr lIns="50800" tIns="50800" rIns="50800" bIns="50800" rtlCol="0" anchor="ctr"/>
            <a:lstStyle/>
            <a:p>
              <a:pPr algn="ctr">
                <a:lnSpc>
                  <a:spcPts val="7252"/>
                </a:lnSpc>
              </a:pPr>
              <a:r>
                <a:rPr lang="en-US" sz="5180">
                  <a:solidFill>
                    <a:srgbClr val="000000"/>
                  </a:solidFill>
                  <a:latin typeface="ไอติม"/>
                  <a:ea typeface="ไอติม"/>
                  <a:cs typeface="ไอติม"/>
                  <a:sym typeface="ไอติม"/>
                </a:rPr>
                <a:t> USES:</a:t>
              </a:r>
            </a:p>
          </p:txBody>
        </p:sp>
      </p:grpSp>
      <p:grpSp>
        <p:nvGrpSpPr>
          <p:cNvPr id="15" name="Group 15"/>
          <p:cNvGrpSpPr/>
          <p:nvPr/>
        </p:nvGrpSpPr>
        <p:grpSpPr>
          <a:xfrm>
            <a:off x="3414083" y="3397860"/>
            <a:ext cx="12249571" cy="3716381"/>
            <a:chOff x="0" y="0"/>
            <a:chExt cx="3226224" cy="978800"/>
          </a:xfrm>
        </p:grpSpPr>
        <p:sp>
          <p:nvSpPr>
            <p:cNvPr id="16" name="Freeform 16"/>
            <p:cNvSpPr/>
            <p:nvPr/>
          </p:nvSpPr>
          <p:spPr>
            <a:xfrm>
              <a:off x="0" y="0"/>
              <a:ext cx="3226224" cy="978800"/>
            </a:xfrm>
            <a:custGeom>
              <a:avLst/>
              <a:gdLst/>
              <a:ahLst/>
              <a:cxnLst/>
              <a:rect l="l" t="t" r="r" b="b"/>
              <a:pathLst>
                <a:path w="3226224" h="978800">
                  <a:moveTo>
                    <a:pt x="0" y="0"/>
                  </a:moveTo>
                  <a:lnTo>
                    <a:pt x="3226224" y="0"/>
                  </a:lnTo>
                  <a:lnTo>
                    <a:pt x="3226224" y="978800"/>
                  </a:lnTo>
                  <a:lnTo>
                    <a:pt x="0" y="978800"/>
                  </a:lnTo>
                  <a:close/>
                </a:path>
              </a:pathLst>
            </a:custGeom>
            <a:solidFill>
              <a:srgbClr val="000000">
                <a:alpha val="0"/>
              </a:srgbClr>
            </a:solidFill>
            <a:ln w="38100" cap="sq">
              <a:solidFill>
                <a:srgbClr val="000000"/>
              </a:solidFill>
              <a:prstDash val="solid"/>
              <a:miter/>
            </a:ln>
          </p:spPr>
        </p:sp>
        <p:sp>
          <p:nvSpPr>
            <p:cNvPr id="17" name="TextBox 17"/>
            <p:cNvSpPr txBox="1"/>
            <p:nvPr/>
          </p:nvSpPr>
          <p:spPr>
            <a:xfrm>
              <a:off x="0" y="-57150"/>
              <a:ext cx="3226224" cy="1035950"/>
            </a:xfrm>
            <a:prstGeom prst="rect">
              <a:avLst/>
            </a:prstGeom>
          </p:spPr>
          <p:txBody>
            <a:bodyPr lIns="50800" tIns="50800" rIns="50800" bIns="50800" rtlCol="0" anchor="ctr"/>
            <a:lstStyle/>
            <a:p>
              <a:pPr algn="ctr">
                <a:lnSpc>
                  <a:spcPts val="3639"/>
                </a:lnSpc>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2996340" y="3607396"/>
            <a:ext cx="12582338" cy="4240999"/>
          </a:xfrm>
          <a:prstGeom prst="rect">
            <a:avLst/>
          </a:prstGeom>
        </p:spPr>
        <p:txBody>
          <a:bodyPr lIns="0" tIns="0" rIns="0" bIns="0" rtlCol="0" anchor="t">
            <a:spAutoFit/>
          </a:bodyPr>
          <a:lstStyle/>
          <a:p>
            <a:pPr marL="796796" lvl="1" indent="-398398" algn="l">
              <a:lnSpc>
                <a:spcPts val="4244"/>
              </a:lnSpc>
              <a:buFont typeface="Arial"/>
              <a:buChar char="•"/>
            </a:pPr>
            <a:r>
              <a:rPr lang="en-US" sz="3690">
                <a:solidFill>
                  <a:srgbClr val="000000"/>
                </a:solidFill>
                <a:latin typeface="ไอติม"/>
                <a:ea typeface="ไอติม"/>
                <a:cs typeface="ไอติม"/>
                <a:sym typeface="ไอติม"/>
              </a:rPr>
              <a:t>TF-IDF , Machine Learning improves detection performance.</a:t>
            </a:r>
          </a:p>
          <a:p>
            <a:pPr marL="796796" lvl="1" indent="-398398" algn="l">
              <a:lnSpc>
                <a:spcPts val="4244"/>
              </a:lnSpc>
              <a:buFont typeface="Arial"/>
              <a:buChar char="•"/>
            </a:pPr>
            <a:r>
              <a:rPr lang="en-US" sz="3690">
                <a:solidFill>
                  <a:srgbClr val="000000"/>
                </a:solidFill>
                <a:latin typeface="ไอติม"/>
                <a:ea typeface="ไอติม"/>
                <a:cs typeface="ไอติม"/>
                <a:sym typeface="ไอติม"/>
              </a:rPr>
              <a:t>Protects users from fraud, phishing, and harmful links.</a:t>
            </a:r>
          </a:p>
          <a:p>
            <a:pPr marL="796796" lvl="1" indent="-398398" algn="l">
              <a:lnSpc>
                <a:spcPts val="4244"/>
              </a:lnSpc>
              <a:buFont typeface="Arial"/>
              <a:buChar char="•"/>
            </a:pPr>
            <a:r>
              <a:rPr lang="en-US" sz="3690">
                <a:solidFill>
                  <a:srgbClr val="000000"/>
                </a:solidFill>
                <a:latin typeface="ไอติม"/>
                <a:ea typeface="ไอติม"/>
                <a:cs typeface="ไอติม"/>
                <a:sym typeface="ไอติม"/>
              </a:rPr>
              <a:t>Streamlit UI provides simple and real-time predictions.</a:t>
            </a:r>
          </a:p>
          <a:p>
            <a:pPr marL="796796" lvl="1" indent="-398398" algn="l">
              <a:lnSpc>
                <a:spcPts val="4244"/>
              </a:lnSpc>
              <a:buFont typeface="Arial"/>
              <a:buChar char="•"/>
            </a:pPr>
            <a:r>
              <a:rPr lang="en-US" sz="3690">
                <a:solidFill>
                  <a:srgbClr val="000000"/>
                </a:solidFill>
                <a:latin typeface="ไอติม"/>
                <a:ea typeface="ไอติม"/>
                <a:cs typeface="ไอติม"/>
                <a:sym typeface="ไอติม"/>
              </a:rPr>
              <a:t>Achieves a reliable and effective solution for automated spam filtering.</a:t>
            </a:r>
          </a:p>
          <a:p>
            <a:pPr algn="l">
              <a:lnSpc>
                <a:spcPts val="4244"/>
              </a:lnSpc>
            </a:pPr>
            <a:endParaRPr lang="en-US" sz="3690">
              <a:solidFill>
                <a:srgbClr val="000000"/>
              </a:solidFill>
              <a:latin typeface="ไอติม"/>
              <a:ea typeface="ไอติม"/>
              <a:cs typeface="ไอติม"/>
              <a:sym typeface="ไอติม"/>
            </a:endParaRPr>
          </a:p>
          <a:p>
            <a:pPr algn="l">
              <a:lnSpc>
                <a:spcPts val="4244"/>
              </a:lnSpc>
            </a:pPr>
            <a:endParaRPr lang="en-US" sz="3690">
              <a:solidFill>
                <a:srgbClr val="000000"/>
              </a:solidFill>
              <a:latin typeface="ไอติม"/>
              <a:ea typeface="ไอติม"/>
              <a:cs typeface="ไอติม"/>
              <a:sym typeface="ไอติม"/>
            </a:endParaRPr>
          </a:p>
        </p:txBody>
      </p:sp>
      <p:grpSp>
        <p:nvGrpSpPr>
          <p:cNvPr id="12" name="Group 12"/>
          <p:cNvGrpSpPr/>
          <p:nvPr/>
        </p:nvGrpSpPr>
        <p:grpSpPr>
          <a:xfrm>
            <a:off x="195957" y="1463217"/>
            <a:ext cx="15718023" cy="1952298"/>
            <a:chOff x="0" y="0"/>
            <a:chExt cx="4139726" cy="514185"/>
          </a:xfrm>
        </p:grpSpPr>
        <p:sp>
          <p:nvSpPr>
            <p:cNvPr id="13" name="Freeform 13"/>
            <p:cNvSpPr/>
            <p:nvPr/>
          </p:nvSpPr>
          <p:spPr>
            <a:xfrm>
              <a:off x="0" y="0"/>
              <a:ext cx="4139726" cy="514185"/>
            </a:xfrm>
            <a:custGeom>
              <a:avLst/>
              <a:gdLst/>
              <a:ahLst/>
              <a:cxnLst/>
              <a:rect l="l" t="t" r="r" b="b"/>
              <a:pathLst>
                <a:path w="4139726" h="514185">
                  <a:moveTo>
                    <a:pt x="0" y="0"/>
                  </a:moveTo>
                  <a:lnTo>
                    <a:pt x="4139726" y="0"/>
                  </a:lnTo>
                  <a:lnTo>
                    <a:pt x="4139726" y="514185"/>
                  </a:lnTo>
                  <a:lnTo>
                    <a:pt x="0" y="514185"/>
                  </a:lnTo>
                  <a:close/>
                </a:path>
              </a:pathLst>
            </a:custGeom>
            <a:solidFill>
              <a:srgbClr val="000000">
                <a:alpha val="0"/>
              </a:srgbClr>
            </a:solidFill>
            <a:ln cap="sq">
              <a:noFill/>
              <a:prstDash val="solid"/>
              <a:miter/>
            </a:ln>
          </p:spPr>
        </p:sp>
        <p:sp>
          <p:nvSpPr>
            <p:cNvPr id="14" name="TextBox 14"/>
            <p:cNvSpPr txBox="1"/>
            <p:nvPr/>
          </p:nvSpPr>
          <p:spPr>
            <a:xfrm>
              <a:off x="0" y="-104775"/>
              <a:ext cx="4139726" cy="618960"/>
            </a:xfrm>
            <a:prstGeom prst="rect">
              <a:avLst/>
            </a:prstGeom>
          </p:spPr>
          <p:txBody>
            <a:bodyPr lIns="50800" tIns="50800" rIns="50800" bIns="50800" rtlCol="0" anchor="ctr"/>
            <a:lstStyle/>
            <a:p>
              <a:pPr algn="ctr">
                <a:lnSpc>
                  <a:spcPts val="7252"/>
                </a:lnSpc>
              </a:pPr>
              <a:r>
                <a:rPr lang="en-US" sz="5180">
                  <a:solidFill>
                    <a:srgbClr val="000000"/>
                  </a:solidFill>
                  <a:latin typeface="ไอติม"/>
                  <a:ea typeface="ไอติม"/>
                  <a:cs typeface="ไอติม"/>
                  <a:sym typeface="ไอติม"/>
                </a:rPr>
                <a:t>CONCLUSION </a:t>
              </a:r>
            </a:p>
          </p:txBody>
        </p:sp>
      </p:grpSp>
      <p:grpSp>
        <p:nvGrpSpPr>
          <p:cNvPr id="15" name="Group 15"/>
          <p:cNvGrpSpPr/>
          <p:nvPr/>
        </p:nvGrpSpPr>
        <p:grpSpPr>
          <a:xfrm>
            <a:off x="3391573" y="3415514"/>
            <a:ext cx="12187105" cy="3768924"/>
            <a:chOff x="0" y="0"/>
            <a:chExt cx="3209773" cy="992638"/>
          </a:xfrm>
        </p:grpSpPr>
        <p:sp>
          <p:nvSpPr>
            <p:cNvPr id="16" name="Freeform 16"/>
            <p:cNvSpPr/>
            <p:nvPr/>
          </p:nvSpPr>
          <p:spPr>
            <a:xfrm>
              <a:off x="0" y="0"/>
              <a:ext cx="3209773" cy="992638"/>
            </a:xfrm>
            <a:custGeom>
              <a:avLst/>
              <a:gdLst/>
              <a:ahLst/>
              <a:cxnLst/>
              <a:rect l="l" t="t" r="r" b="b"/>
              <a:pathLst>
                <a:path w="3209773" h="992638">
                  <a:moveTo>
                    <a:pt x="0" y="0"/>
                  </a:moveTo>
                  <a:lnTo>
                    <a:pt x="3209773" y="0"/>
                  </a:lnTo>
                  <a:lnTo>
                    <a:pt x="3209773" y="992638"/>
                  </a:lnTo>
                  <a:lnTo>
                    <a:pt x="0" y="992638"/>
                  </a:lnTo>
                  <a:close/>
                </a:path>
              </a:pathLst>
            </a:custGeom>
            <a:solidFill>
              <a:srgbClr val="000000">
                <a:alpha val="0"/>
              </a:srgbClr>
            </a:solidFill>
            <a:ln w="38100" cap="sq">
              <a:solidFill>
                <a:srgbClr val="000000"/>
              </a:solidFill>
              <a:prstDash val="solid"/>
              <a:miter/>
            </a:ln>
          </p:spPr>
        </p:sp>
        <p:sp>
          <p:nvSpPr>
            <p:cNvPr id="17" name="TextBox 17"/>
            <p:cNvSpPr txBox="1"/>
            <p:nvPr/>
          </p:nvSpPr>
          <p:spPr>
            <a:xfrm>
              <a:off x="0" y="-57150"/>
              <a:ext cx="3209773" cy="1049788"/>
            </a:xfrm>
            <a:prstGeom prst="rect">
              <a:avLst/>
            </a:prstGeom>
          </p:spPr>
          <p:txBody>
            <a:bodyPr lIns="50800" tIns="50800" rIns="50800" bIns="50800" rtlCol="0" anchor="ctr"/>
            <a:lstStyle/>
            <a:p>
              <a:pPr algn="ctr">
                <a:lnSpc>
                  <a:spcPts val="363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2920113" y="3317396"/>
            <a:ext cx="12447773" cy="3147383"/>
          </a:xfrm>
          <a:prstGeom prst="rect">
            <a:avLst/>
          </a:prstGeom>
        </p:spPr>
        <p:txBody>
          <a:bodyPr lIns="0" tIns="0" rIns="0" bIns="0" rtlCol="0" anchor="t">
            <a:spAutoFit/>
          </a:bodyPr>
          <a:lstStyle/>
          <a:p>
            <a:pPr marL="788217" lvl="1" indent="-394108" algn="l">
              <a:lnSpc>
                <a:spcPts val="4198"/>
              </a:lnSpc>
              <a:buFont typeface="Arial"/>
              <a:buChar char="•"/>
            </a:pPr>
            <a:r>
              <a:rPr lang="en-US" sz="3650">
                <a:solidFill>
                  <a:srgbClr val="000000"/>
                </a:solidFill>
                <a:latin typeface="ไอติม"/>
                <a:ea typeface="ไอติม"/>
                <a:cs typeface="ไอติม"/>
                <a:sym typeface="ไอติม"/>
              </a:rPr>
              <a:t>Integrate Deep Learning models (LSTM, BERT) for higher accuracy</a:t>
            </a:r>
          </a:p>
          <a:p>
            <a:pPr marL="788217" lvl="1" indent="-394108" algn="l">
              <a:lnSpc>
                <a:spcPts val="4198"/>
              </a:lnSpc>
              <a:buFont typeface="Arial"/>
              <a:buChar char="•"/>
            </a:pPr>
            <a:r>
              <a:rPr lang="en-US" sz="3650">
                <a:solidFill>
                  <a:srgbClr val="000000"/>
                </a:solidFill>
                <a:latin typeface="ไอติม"/>
                <a:ea typeface="ไอติม"/>
                <a:cs typeface="ไอติม"/>
                <a:sym typeface="ไอติม"/>
              </a:rPr>
              <a:t>Add support for multiple languages (Hindi, Marathi, etc.)</a:t>
            </a:r>
          </a:p>
          <a:p>
            <a:pPr marL="788217" lvl="1" indent="-394108" algn="l">
              <a:lnSpc>
                <a:spcPts val="4198"/>
              </a:lnSpc>
              <a:buFont typeface="Arial"/>
              <a:buChar char="•"/>
            </a:pPr>
            <a:r>
              <a:rPr lang="en-US" sz="3650">
                <a:solidFill>
                  <a:srgbClr val="000000"/>
                </a:solidFill>
                <a:latin typeface="ไอติม"/>
                <a:ea typeface="ไอติม"/>
                <a:cs typeface="ไอติม"/>
                <a:sym typeface="ไอติม"/>
              </a:rPr>
              <a:t>Improve UI</a:t>
            </a:r>
          </a:p>
          <a:p>
            <a:pPr marL="788217" lvl="1" indent="-394108" algn="l">
              <a:lnSpc>
                <a:spcPts val="4198"/>
              </a:lnSpc>
              <a:buFont typeface="Arial"/>
              <a:buChar char="•"/>
            </a:pPr>
            <a:r>
              <a:rPr lang="en-US" sz="3650">
                <a:solidFill>
                  <a:srgbClr val="000000"/>
                </a:solidFill>
                <a:latin typeface="ไอติม"/>
                <a:ea typeface="ไอติม"/>
                <a:cs typeface="ไอติม"/>
                <a:sym typeface="ไอติม"/>
              </a:rPr>
              <a:t>Implement voice spam detection </a:t>
            </a:r>
          </a:p>
          <a:p>
            <a:pPr algn="l">
              <a:lnSpc>
                <a:spcPts val="4198"/>
              </a:lnSpc>
            </a:pPr>
            <a:endParaRPr lang="en-US" sz="3650">
              <a:solidFill>
                <a:srgbClr val="000000"/>
              </a:solidFill>
              <a:latin typeface="ไอติม"/>
              <a:ea typeface="ไอติม"/>
              <a:cs typeface="ไอติม"/>
              <a:sym typeface="ไอติม"/>
            </a:endParaRPr>
          </a:p>
        </p:txBody>
      </p:sp>
      <p:grpSp>
        <p:nvGrpSpPr>
          <p:cNvPr id="12" name="Group 12"/>
          <p:cNvGrpSpPr/>
          <p:nvPr/>
        </p:nvGrpSpPr>
        <p:grpSpPr>
          <a:xfrm>
            <a:off x="3301675" y="3068392"/>
            <a:ext cx="12066211" cy="3221160"/>
            <a:chOff x="0" y="0"/>
            <a:chExt cx="3177932" cy="848371"/>
          </a:xfrm>
        </p:grpSpPr>
        <p:sp>
          <p:nvSpPr>
            <p:cNvPr id="13" name="Freeform 13"/>
            <p:cNvSpPr/>
            <p:nvPr/>
          </p:nvSpPr>
          <p:spPr>
            <a:xfrm>
              <a:off x="0" y="0"/>
              <a:ext cx="3177932" cy="848371"/>
            </a:xfrm>
            <a:custGeom>
              <a:avLst/>
              <a:gdLst/>
              <a:ahLst/>
              <a:cxnLst/>
              <a:rect l="l" t="t" r="r" b="b"/>
              <a:pathLst>
                <a:path w="3177932" h="848371">
                  <a:moveTo>
                    <a:pt x="0" y="0"/>
                  </a:moveTo>
                  <a:lnTo>
                    <a:pt x="3177932" y="0"/>
                  </a:lnTo>
                  <a:lnTo>
                    <a:pt x="3177932" y="848371"/>
                  </a:lnTo>
                  <a:lnTo>
                    <a:pt x="0" y="848371"/>
                  </a:lnTo>
                  <a:close/>
                </a:path>
              </a:pathLst>
            </a:custGeom>
            <a:solidFill>
              <a:srgbClr val="000000">
                <a:alpha val="0"/>
              </a:srgbClr>
            </a:solidFill>
            <a:ln w="38100" cap="sq">
              <a:solidFill>
                <a:srgbClr val="000000"/>
              </a:solidFill>
              <a:prstDash val="solid"/>
              <a:miter/>
            </a:ln>
          </p:spPr>
        </p:sp>
        <p:sp>
          <p:nvSpPr>
            <p:cNvPr id="14" name="TextBox 14"/>
            <p:cNvSpPr txBox="1"/>
            <p:nvPr/>
          </p:nvSpPr>
          <p:spPr>
            <a:xfrm>
              <a:off x="0" y="-57150"/>
              <a:ext cx="3177932" cy="905521"/>
            </a:xfrm>
            <a:prstGeom prst="rect">
              <a:avLst/>
            </a:prstGeom>
          </p:spPr>
          <p:txBody>
            <a:bodyPr lIns="50800" tIns="50800" rIns="50800" bIns="50800" rtlCol="0" anchor="ctr"/>
            <a:lstStyle/>
            <a:p>
              <a:pPr algn="ctr">
                <a:lnSpc>
                  <a:spcPts val="3639"/>
                </a:lnSpc>
              </a:pPr>
              <a:endParaRPr/>
            </a:p>
          </p:txBody>
        </p:sp>
      </p:grpSp>
      <p:sp>
        <p:nvSpPr>
          <p:cNvPr id="15" name="TextBox 15"/>
          <p:cNvSpPr txBox="1"/>
          <p:nvPr/>
        </p:nvSpPr>
        <p:spPr>
          <a:xfrm>
            <a:off x="3810660" y="1979995"/>
            <a:ext cx="10666680" cy="675152"/>
          </a:xfrm>
          <a:prstGeom prst="rect">
            <a:avLst/>
          </a:prstGeom>
        </p:spPr>
        <p:txBody>
          <a:bodyPr lIns="0" tIns="0" rIns="0" bIns="0" rtlCol="0" anchor="t">
            <a:spAutoFit/>
          </a:bodyPr>
          <a:lstStyle/>
          <a:p>
            <a:pPr algn="ctr">
              <a:lnSpc>
                <a:spcPts val="5023"/>
              </a:lnSpc>
            </a:pPr>
            <a:r>
              <a:rPr lang="en-US" sz="5178">
                <a:solidFill>
                  <a:srgbClr val="000000"/>
                </a:solidFill>
                <a:latin typeface="ไอติม"/>
                <a:ea typeface="ไอติม"/>
                <a:cs typeface="ไอติม"/>
                <a:sym typeface="ไอติม"/>
              </a:rPr>
              <a:t>FUTURE SCOPE: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1498136" y="3588346"/>
            <a:ext cx="18751215" cy="20481146"/>
          </a:xfrm>
          <a:custGeom>
            <a:avLst/>
            <a:gdLst/>
            <a:ahLst/>
            <a:cxnLst/>
            <a:rect l="l" t="t" r="r" b="b"/>
            <a:pathLst>
              <a:path w="18751215" h="20481146">
                <a:moveTo>
                  <a:pt x="0" y="0"/>
                </a:moveTo>
                <a:lnTo>
                  <a:pt x="18751216" y="0"/>
                </a:lnTo>
                <a:lnTo>
                  <a:pt x="18751216" y="20481146"/>
                </a:lnTo>
                <a:lnTo>
                  <a:pt x="0" y="20481146"/>
                </a:lnTo>
                <a:lnTo>
                  <a:pt x="0" y="0"/>
                </a:lnTo>
                <a:close/>
              </a:path>
            </a:pathLst>
          </a:custGeom>
          <a:blipFill>
            <a:blip r:embed="rId3"/>
            <a:stretch>
              <a:fillRect/>
            </a:stretch>
          </a:blipFill>
        </p:spPr>
      </p:sp>
      <p:sp>
        <p:nvSpPr>
          <p:cNvPr id="4" name="Freeform 4"/>
          <p:cNvSpPr/>
          <p:nvPr/>
        </p:nvSpPr>
        <p:spPr>
          <a:xfrm>
            <a:off x="10225895" y="-12914637"/>
            <a:ext cx="18751215" cy="20481146"/>
          </a:xfrm>
          <a:custGeom>
            <a:avLst/>
            <a:gdLst/>
            <a:ahLst/>
            <a:cxnLst/>
            <a:rect l="l" t="t" r="r" b="b"/>
            <a:pathLst>
              <a:path w="18751215" h="20481146">
                <a:moveTo>
                  <a:pt x="0" y="0"/>
                </a:moveTo>
                <a:lnTo>
                  <a:pt x="18751215" y="0"/>
                </a:lnTo>
                <a:lnTo>
                  <a:pt x="18751215" y="20481146"/>
                </a:lnTo>
                <a:lnTo>
                  <a:pt x="0" y="20481146"/>
                </a:lnTo>
                <a:lnTo>
                  <a:pt x="0" y="0"/>
                </a:lnTo>
                <a:close/>
              </a:path>
            </a:pathLst>
          </a:custGeom>
          <a:blipFill>
            <a:blip r:embed="rId3"/>
            <a:stretch>
              <a:fillRect/>
            </a:stretch>
          </a:blipFill>
        </p:spPr>
      </p:sp>
      <p:sp>
        <p:nvSpPr>
          <p:cNvPr id="5" name="Freeform 5"/>
          <p:cNvSpPr/>
          <p:nvPr/>
        </p:nvSpPr>
        <p:spPr>
          <a:xfrm>
            <a:off x="-659074" y="-1090165"/>
            <a:ext cx="6301816" cy="7059061"/>
          </a:xfrm>
          <a:custGeom>
            <a:avLst/>
            <a:gdLst/>
            <a:ahLst/>
            <a:cxnLst/>
            <a:rect l="l" t="t" r="r" b="b"/>
            <a:pathLst>
              <a:path w="6301816" h="7059061">
                <a:moveTo>
                  <a:pt x="0" y="0"/>
                </a:moveTo>
                <a:lnTo>
                  <a:pt x="6301817" y="0"/>
                </a:lnTo>
                <a:lnTo>
                  <a:pt x="6301817" y="7059061"/>
                </a:lnTo>
                <a:lnTo>
                  <a:pt x="0" y="7059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flipV="1">
            <a:off x="12763072" y="4036979"/>
            <a:ext cx="6301816" cy="7059061"/>
          </a:xfrm>
          <a:custGeom>
            <a:avLst/>
            <a:gdLst/>
            <a:ahLst/>
            <a:cxnLst/>
            <a:rect l="l" t="t" r="r" b="b"/>
            <a:pathLst>
              <a:path w="6301816" h="7059061">
                <a:moveTo>
                  <a:pt x="6301816" y="7059060"/>
                </a:moveTo>
                <a:lnTo>
                  <a:pt x="0" y="7059060"/>
                </a:lnTo>
                <a:lnTo>
                  <a:pt x="0" y="0"/>
                </a:lnTo>
                <a:lnTo>
                  <a:pt x="6301816" y="0"/>
                </a:lnTo>
                <a:lnTo>
                  <a:pt x="6301816" y="705906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928510" y="8377371"/>
            <a:ext cx="4939574" cy="3819258"/>
          </a:xfrm>
          <a:custGeom>
            <a:avLst/>
            <a:gdLst/>
            <a:ahLst/>
            <a:cxnLst/>
            <a:rect l="l" t="t" r="r" b="b"/>
            <a:pathLst>
              <a:path w="4939574" h="3819258">
                <a:moveTo>
                  <a:pt x="0" y="0"/>
                </a:moveTo>
                <a:lnTo>
                  <a:pt x="4939574" y="0"/>
                </a:lnTo>
                <a:lnTo>
                  <a:pt x="4939574" y="3819258"/>
                </a:lnTo>
                <a:lnTo>
                  <a:pt x="0" y="3819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3993708" y="-1675435"/>
            <a:ext cx="4848524" cy="3748859"/>
          </a:xfrm>
          <a:custGeom>
            <a:avLst/>
            <a:gdLst/>
            <a:ahLst/>
            <a:cxnLst/>
            <a:rect l="l" t="t" r="r" b="b"/>
            <a:pathLst>
              <a:path w="4848524" h="3748859">
                <a:moveTo>
                  <a:pt x="0" y="0"/>
                </a:moveTo>
                <a:lnTo>
                  <a:pt x="4848525" y="0"/>
                </a:lnTo>
                <a:lnTo>
                  <a:pt x="4848525" y="3748859"/>
                </a:lnTo>
                <a:lnTo>
                  <a:pt x="0" y="37488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4652278" y="8377371"/>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rot="10050803">
            <a:off x="11418159" y="-1697058"/>
            <a:ext cx="1980929" cy="3394116"/>
          </a:xfrm>
          <a:custGeom>
            <a:avLst/>
            <a:gdLst/>
            <a:ahLst/>
            <a:cxnLst/>
            <a:rect l="l" t="t" r="r" b="b"/>
            <a:pathLst>
              <a:path w="1980929" h="3394116">
                <a:moveTo>
                  <a:pt x="0" y="0"/>
                </a:moveTo>
                <a:lnTo>
                  <a:pt x="1980929" y="0"/>
                </a:lnTo>
                <a:lnTo>
                  <a:pt x="1980929" y="3394116"/>
                </a:lnTo>
                <a:lnTo>
                  <a:pt x="0" y="339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1" name="Group 11"/>
          <p:cNvGrpSpPr/>
          <p:nvPr/>
        </p:nvGrpSpPr>
        <p:grpSpPr>
          <a:xfrm>
            <a:off x="5642743" y="3167456"/>
            <a:ext cx="6133393" cy="3333056"/>
            <a:chOff x="0" y="0"/>
            <a:chExt cx="1615379" cy="877842"/>
          </a:xfrm>
        </p:grpSpPr>
        <p:sp>
          <p:nvSpPr>
            <p:cNvPr id="12" name="Freeform 12"/>
            <p:cNvSpPr/>
            <p:nvPr/>
          </p:nvSpPr>
          <p:spPr>
            <a:xfrm>
              <a:off x="0" y="0"/>
              <a:ext cx="1615379" cy="877842"/>
            </a:xfrm>
            <a:custGeom>
              <a:avLst/>
              <a:gdLst/>
              <a:ahLst/>
              <a:cxnLst/>
              <a:rect l="l" t="t" r="r" b="b"/>
              <a:pathLst>
                <a:path w="1615379" h="877842">
                  <a:moveTo>
                    <a:pt x="0" y="0"/>
                  </a:moveTo>
                  <a:lnTo>
                    <a:pt x="1615379" y="0"/>
                  </a:lnTo>
                  <a:lnTo>
                    <a:pt x="1615379" y="877842"/>
                  </a:lnTo>
                  <a:lnTo>
                    <a:pt x="0" y="877842"/>
                  </a:lnTo>
                  <a:close/>
                </a:path>
              </a:pathLst>
            </a:custGeom>
            <a:solidFill>
              <a:srgbClr val="000000">
                <a:alpha val="0"/>
              </a:srgbClr>
            </a:solidFill>
            <a:ln w="38100" cap="sq">
              <a:solidFill>
                <a:srgbClr val="000000"/>
              </a:solidFill>
              <a:prstDash val="solid"/>
              <a:miter/>
            </a:ln>
          </p:spPr>
        </p:sp>
        <p:sp>
          <p:nvSpPr>
            <p:cNvPr id="13" name="TextBox 13"/>
            <p:cNvSpPr txBox="1"/>
            <p:nvPr/>
          </p:nvSpPr>
          <p:spPr>
            <a:xfrm>
              <a:off x="0" y="-57150"/>
              <a:ext cx="1615379" cy="934992"/>
            </a:xfrm>
            <a:prstGeom prst="rect">
              <a:avLst/>
            </a:prstGeom>
          </p:spPr>
          <p:txBody>
            <a:bodyPr lIns="50800" tIns="50800" rIns="50800" bIns="50800" rtlCol="0" anchor="ctr"/>
            <a:lstStyle/>
            <a:p>
              <a:pPr algn="ctr">
                <a:lnSpc>
                  <a:spcPts val="3639"/>
                </a:lnSpc>
              </a:pPr>
              <a:endParaRPr/>
            </a:p>
          </p:txBody>
        </p:sp>
      </p:grpSp>
      <p:sp>
        <p:nvSpPr>
          <p:cNvPr id="14" name="TextBox 14"/>
          <p:cNvSpPr txBox="1"/>
          <p:nvPr/>
        </p:nvSpPr>
        <p:spPr>
          <a:xfrm>
            <a:off x="2491834" y="4255897"/>
            <a:ext cx="12233637" cy="887603"/>
          </a:xfrm>
          <a:prstGeom prst="rect">
            <a:avLst/>
          </a:prstGeom>
        </p:spPr>
        <p:txBody>
          <a:bodyPr lIns="0" tIns="0" rIns="0" bIns="0" rtlCol="0" anchor="t">
            <a:spAutoFit/>
          </a:bodyPr>
          <a:lstStyle/>
          <a:p>
            <a:pPr algn="ctr">
              <a:lnSpc>
                <a:spcPts val="7252"/>
              </a:lnSpc>
              <a:spcBef>
                <a:spcPct val="0"/>
              </a:spcBef>
            </a:pPr>
            <a:r>
              <a:rPr lang="en-US" sz="5180">
                <a:solidFill>
                  <a:srgbClr val="000000"/>
                </a:solidFill>
                <a:latin typeface="ไอติม"/>
                <a:ea typeface="ไอติม"/>
                <a:cs typeface="ไอติม"/>
                <a:sym typeface="ไอติม"/>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344</Words>
  <Application>Microsoft Office PowerPoint</Application>
  <PresentationFormat>Custom</PresentationFormat>
  <Paragraphs>76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ไอติม</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Watercolor Leaves Illustration Presentation</dc:title>
  <cp:lastModifiedBy>SHIVANI CHOUDHARY</cp:lastModifiedBy>
  <cp:revision>2</cp:revision>
  <dcterms:created xsi:type="dcterms:W3CDTF">2006-08-16T00:00:00Z</dcterms:created>
  <dcterms:modified xsi:type="dcterms:W3CDTF">2025-12-03T08:20:23Z</dcterms:modified>
  <dc:identifier>DAG5hrfpC5k</dc:identifier>
</cp:coreProperties>
</file>